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5143500" cy="9144000"/>
  <p:embeddedFontLst>
    <p:embeddedFont>
      <p:font typeface="Arial Black"/>
      <p:regular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h4avE7Ei5j/Uonwu5QTVmh4ZFO6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alBlack-regular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" name="Google Shape;10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" name="Google Shape;70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9d33918fc_0_14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" name="Google Shape;122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8" name="Google Shape;178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d9eec32958_26_14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0" name="Google Shape;290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d9eec32958_26_3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3" name="Google Shape;383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2" name="Google Shape;442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7" name="Google Shape;487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7" name="Google Shape;527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d9d33918fc_0_4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6" name="Google Shape;606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d9eec32958_33_0)">
  <p:cSld name="Generated (g3d9eec32958_33_0)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6.jpg"/><Relationship Id="rId6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11" Type="http://schemas.openxmlformats.org/officeDocument/2006/relationships/image" Target="../media/image15.jpg"/><Relationship Id="rId10" Type="http://schemas.openxmlformats.org/officeDocument/2006/relationships/image" Target="../media/image7.png"/><Relationship Id="rId9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10.png"/><Relationship Id="rId7" Type="http://schemas.openxmlformats.org/officeDocument/2006/relationships/image" Target="../media/image6.png"/><Relationship Id="rId8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3B66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201168" y="0"/>
            <a:ext cx="63900" cy="5143500"/>
          </a:xfrm>
          <a:prstGeom prst="rect">
            <a:avLst/>
          </a:prstGeom>
          <a:solidFill>
            <a:srgbClr val="FFD700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" name="Google Shape;1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731520"/>
            <a:ext cx="2194560" cy="219456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"/>
          <p:cNvSpPr/>
          <p:nvPr/>
        </p:nvSpPr>
        <p:spPr>
          <a:xfrm>
            <a:off x="457200" y="749808"/>
            <a:ext cx="576072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Arial Black"/>
              <a:buNone/>
            </a:pPr>
            <a:r>
              <a:rPr b="1" lang="en-US" sz="5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FIFA World Cup</a:t>
            </a:r>
            <a:endParaRPr sz="5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Arial Black"/>
              <a:buNone/>
            </a:pPr>
            <a:r>
              <a:rPr b="1" lang="en-US" sz="5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2026™</a:t>
            </a:r>
            <a:endParaRPr sz="5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2148840"/>
            <a:ext cx="5760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2600"/>
              <a:buFont typeface="Arial"/>
              <a:buNone/>
            </a:pPr>
            <a:r>
              <a:rPr lang="en-US" sz="2600">
                <a:solidFill>
                  <a:srgbClr val="FFD700"/>
                </a:solidFill>
                <a:latin typeface="Arial"/>
                <a:ea typeface="Arial"/>
                <a:cs typeface="Arial"/>
                <a:sym typeface="Arial"/>
              </a:rPr>
              <a:t>Boston Fan Experience App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2852928"/>
            <a:ext cx="5029200" cy="4572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2971800"/>
            <a:ext cx="5577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1300"/>
              <a:buFont typeface="Georgia"/>
              <a:buNone/>
            </a:pPr>
            <a:r>
              <a:rPr i="1" lang="en-US" sz="1300">
                <a:solidFill>
                  <a:srgbClr val="C8D8E8"/>
                </a:solidFill>
                <a:latin typeface="Georgia"/>
                <a:ea typeface="Georgia"/>
                <a:cs typeface="Georgia"/>
                <a:sym typeface="Georgia"/>
              </a:rPr>
              <a:t>Explore matches, transportation, dining, lodging,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1300"/>
              <a:buFont typeface="Georgia"/>
              <a:buNone/>
            </a:pPr>
            <a:r>
              <a:rPr i="1" lang="en-US" sz="1300">
                <a:solidFill>
                  <a:srgbClr val="C8D8E8"/>
                </a:solidFill>
                <a:latin typeface="Georgia"/>
                <a:ea typeface="Georgia"/>
                <a:cs typeface="Georgia"/>
                <a:sym typeface="Georgia"/>
              </a:rPr>
              <a:t>and fan experiences at Gillette Stadium, Foxborough MA.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1737300" y="4507992"/>
            <a:ext cx="5669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AAFCA"/>
                </a:solidFill>
                <a:latin typeface="Arial"/>
                <a:ea typeface="Arial"/>
                <a:cs typeface="Arial"/>
                <a:sym typeface="Arial"/>
              </a:rPr>
              <a:t>· Athena Huang  ·  Zoey Huang  ·  Leanne Chung · Joe Wang · Carolyn Zeng  ·  Sunny Guo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3B66"/>
          </a:solidFill>
          <a:ln cap="flat" cmpd="sng" w="12700">
            <a:solidFill>
              <a:srgbClr val="0D3B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-62" y="4818900"/>
            <a:ext cx="201300" cy="3246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228607" y="4818888"/>
            <a:ext cx="86868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FFD700"/>
                </a:solidFill>
                <a:latin typeface="Arial"/>
                <a:ea typeface="Arial"/>
                <a:cs typeface="Arial"/>
                <a:sym typeface="Arial"/>
              </a:rPr>
              <a:t>FIFA World Cup 2026  Boston  ·  APAN 5310 </a:t>
            </a:r>
            <a:r>
              <a:rPr b="1" lang="en-US" sz="800">
                <a:solidFill>
                  <a:srgbClr val="FFD700"/>
                </a:solidFill>
              </a:rPr>
              <a:t> SQL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3B66"/>
          </a:solidFill>
          <a:ln cap="flat" cmpd="sng" w="12700">
            <a:solidFill>
              <a:srgbClr val="0D3B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0" y="0"/>
            <a:ext cx="182880" cy="914400"/>
          </a:xfrm>
          <a:prstGeom prst="rect">
            <a:avLst/>
          </a:prstGeom>
          <a:solidFill>
            <a:srgbClr val="1A5F9E"/>
          </a:solidFill>
          <a:ln cap="flat" cmpd="sng" w="12700">
            <a:solidFill>
              <a:srgbClr val="1A5F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347472" y="0"/>
            <a:ext cx="8503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MEET THE TEAM 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274320" y="1371600"/>
            <a:ext cx="2743200" cy="16276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162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274320" y="1371600"/>
            <a:ext cx="2743200" cy="182880"/>
          </a:xfrm>
          <a:prstGeom prst="rect">
            <a:avLst/>
          </a:prstGeom>
          <a:solidFill>
            <a:srgbClr val="0D3B66"/>
          </a:solidFill>
          <a:ln cap="flat" cmpd="sng" w="12700">
            <a:solidFill>
              <a:srgbClr val="0D3B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274320" y="1572768"/>
            <a:ext cx="7315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n-US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🏠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1024128" y="1609344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3D"/>
              </a:buClr>
              <a:buSzPts val="1200"/>
              <a:buFont typeface="Arial Black"/>
              <a:buNone/>
            </a:pPr>
            <a:r>
              <a:rPr b="1" lang="en-US" sz="1200">
                <a:solidFill>
                  <a:srgbClr val="1F2D3D"/>
                </a:solidFill>
                <a:latin typeface="Arial Black"/>
                <a:ea typeface="Arial Black"/>
                <a:cs typeface="Arial Black"/>
                <a:sym typeface="Arial Black"/>
              </a:rPr>
              <a:t>Carolyn Zeng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1024128" y="1938528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3B66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0D3B66"/>
                </a:solidFill>
                <a:latin typeface="Arial"/>
                <a:ea typeface="Arial"/>
                <a:cs typeface="Arial"/>
                <a:sym typeface="Arial"/>
              </a:rPr>
              <a:t>Matches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365760" y="2304288"/>
            <a:ext cx="25786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9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3218688" y="1371600"/>
            <a:ext cx="2743200" cy="16276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162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3218688" y="1371600"/>
            <a:ext cx="2743200" cy="182880"/>
          </a:xfrm>
          <a:prstGeom prst="rect">
            <a:avLst/>
          </a:prstGeom>
          <a:solidFill>
            <a:srgbClr val="2D6A4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218688" y="1572768"/>
            <a:ext cx="7315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n-US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🏟️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3968496" y="1609344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3D"/>
              </a:buClr>
              <a:buSzPts val="1200"/>
              <a:buFont typeface="Arial Black"/>
              <a:buNone/>
            </a:pPr>
            <a:r>
              <a:rPr b="1" lang="en-US" sz="1200">
                <a:solidFill>
                  <a:srgbClr val="1F2D3D"/>
                </a:solidFill>
                <a:latin typeface="Arial Black"/>
                <a:ea typeface="Arial Black"/>
                <a:cs typeface="Arial Black"/>
                <a:sym typeface="Arial Black"/>
              </a:rPr>
              <a:t>Sunny Guo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3968496" y="1938528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2D6A4F"/>
                </a:solidFill>
                <a:latin typeface="Arial"/>
                <a:ea typeface="Arial"/>
                <a:cs typeface="Arial"/>
                <a:sym typeface="Arial"/>
              </a:rPr>
              <a:t>Tickets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3310128" y="2304288"/>
            <a:ext cx="25786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9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163056" y="1371600"/>
            <a:ext cx="2743200" cy="16276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162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163056" y="1371600"/>
            <a:ext cx="2743200" cy="182880"/>
          </a:xfrm>
          <a:prstGeom prst="rect">
            <a:avLst/>
          </a:prstGeom>
          <a:solidFill>
            <a:srgbClr val="7B2D8B"/>
          </a:solidFill>
          <a:ln cap="flat" cmpd="sng" w="12700">
            <a:solidFill>
              <a:srgbClr val="7B2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163056" y="1572768"/>
            <a:ext cx="7315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n-US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🚌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6912864" y="1609344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3D"/>
              </a:buClr>
              <a:buSzPts val="1200"/>
              <a:buFont typeface="Arial Black"/>
              <a:buNone/>
            </a:pPr>
            <a:r>
              <a:rPr b="1" lang="en-US" sz="1200">
                <a:solidFill>
                  <a:srgbClr val="1F2D3D"/>
                </a:solidFill>
                <a:latin typeface="Arial Black"/>
                <a:ea typeface="Arial Black"/>
                <a:cs typeface="Arial Black"/>
                <a:sym typeface="Arial Black"/>
              </a:rPr>
              <a:t>Joe Wang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6912864" y="1938528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8B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7B2D8B"/>
                </a:solidFill>
                <a:latin typeface="Arial"/>
                <a:ea typeface="Arial"/>
                <a:cs typeface="Arial"/>
                <a:sym typeface="Arial"/>
              </a:rPr>
              <a:t>Transportation &amp;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8B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7B2D8B"/>
                </a:solidFill>
                <a:latin typeface="Arial"/>
                <a:ea typeface="Arial"/>
                <a:cs typeface="Arial"/>
                <a:sym typeface="Arial"/>
              </a:rPr>
              <a:t>Boston Stadium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6254496" y="2304288"/>
            <a:ext cx="25786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9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274320" y="3154680"/>
            <a:ext cx="2743200" cy="16276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162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274320" y="3154680"/>
            <a:ext cx="2743200" cy="18288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274320" y="3355848"/>
            <a:ext cx="7315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n-US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🍽️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1024128" y="3392424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3D"/>
              </a:buClr>
              <a:buSzPts val="1200"/>
              <a:buFont typeface="Arial Black"/>
              <a:buNone/>
            </a:pPr>
            <a:r>
              <a:rPr b="1" lang="en-US" sz="1200">
                <a:solidFill>
                  <a:srgbClr val="1F2D3D"/>
                </a:solidFill>
                <a:latin typeface="Arial Black"/>
                <a:ea typeface="Arial Black"/>
                <a:cs typeface="Arial Black"/>
                <a:sym typeface="Arial Black"/>
              </a:rPr>
              <a:t>Leanne Chung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1024128" y="3721608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Dining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365760" y="4087368"/>
            <a:ext cx="25786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9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3218688" y="3154680"/>
            <a:ext cx="2743200" cy="16276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162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3218688" y="3154680"/>
            <a:ext cx="2743200" cy="182880"/>
          </a:xfrm>
          <a:prstGeom prst="rect">
            <a:avLst/>
          </a:prstGeom>
          <a:solidFill>
            <a:srgbClr val="F4CCCC"/>
          </a:solidFill>
          <a:ln cap="flat" cmpd="sng" w="12700">
            <a:solidFill>
              <a:srgbClr val="1A5F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3218688" y="3355848"/>
            <a:ext cx="7315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n-US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🏨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3968496" y="3392424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3D"/>
              </a:buClr>
              <a:buSzPts val="1200"/>
              <a:buFont typeface="Arial Black"/>
              <a:buNone/>
            </a:pPr>
            <a:r>
              <a:rPr b="1" lang="en-US" sz="1200">
                <a:solidFill>
                  <a:srgbClr val="1F2D3D"/>
                </a:solidFill>
                <a:latin typeface="Arial Black"/>
                <a:ea typeface="Arial Black"/>
                <a:cs typeface="Arial Black"/>
                <a:sym typeface="Arial Black"/>
              </a:rPr>
              <a:t>Athena Huang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3968496" y="3721608"/>
            <a:ext cx="192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F9E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F4CCCC"/>
                </a:solidFill>
                <a:latin typeface="Arial"/>
                <a:ea typeface="Arial"/>
                <a:cs typeface="Arial"/>
                <a:sym typeface="Arial"/>
              </a:rPr>
              <a:t>Lodging</a:t>
            </a:r>
            <a:endParaRPr sz="950">
              <a:solidFill>
                <a:srgbClr val="F4CC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3310128" y="4087368"/>
            <a:ext cx="25786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9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6163056" y="3154680"/>
            <a:ext cx="2743200" cy="16276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162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6163056" y="3154680"/>
            <a:ext cx="2743200" cy="182880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6163056" y="3355848"/>
            <a:ext cx="7315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n-US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6912864" y="3392424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3D"/>
              </a:buClr>
              <a:buSzPts val="1200"/>
              <a:buFont typeface="Arial Black"/>
              <a:buNone/>
            </a:pPr>
            <a:r>
              <a:rPr b="1" lang="en-US" sz="1200">
                <a:solidFill>
                  <a:srgbClr val="1F2D3D"/>
                </a:solidFill>
                <a:latin typeface="Arial Black"/>
                <a:ea typeface="Arial Black"/>
                <a:cs typeface="Arial Black"/>
                <a:sym typeface="Arial Black"/>
              </a:rPr>
              <a:t>Zoey Huang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6912864" y="3721608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E67E22"/>
                </a:solidFill>
                <a:latin typeface="Arial"/>
                <a:ea typeface="Arial"/>
                <a:cs typeface="Arial"/>
                <a:sym typeface="Arial"/>
              </a:rPr>
              <a:t>Players &amp; Teams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6254496" y="4087368"/>
            <a:ext cx="25786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9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3B66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FD700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1"/>
          <p:cNvSpPr/>
          <p:nvPr/>
        </p:nvSpPr>
        <p:spPr>
          <a:xfrm>
            <a:off x="411480" y="256032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D700"/>
                </a:solidFill>
                <a:latin typeface="Arial"/>
                <a:ea typeface="Arial"/>
                <a:cs typeface="Arial"/>
                <a:sym typeface="Arial"/>
              </a:rPr>
              <a:t>TECH STACK &amp; APPLICATION ARCHITECTURE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1"/>
          <p:cNvSpPr/>
          <p:nvPr/>
        </p:nvSpPr>
        <p:spPr>
          <a:xfrm>
            <a:off x="411480" y="640080"/>
            <a:ext cx="83210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 Black"/>
              <a:buNone/>
            </a:pPr>
            <a:r>
              <a:rPr b="1" lang="en-US" sz="36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How It's Built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1"/>
          <p:cNvSpPr/>
          <p:nvPr/>
        </p:nvSpPr>
        <p:spPr>
          <a:xfrm>
            <a:off x="411480" y="1417320"/>
            <a:ext cx="1371600" cy="457200"/>
          </a:xfrm>
          <a:prstGeom prst="rect">
            <a:avLst/>
          </a:prstGeom>
          <a:solidFill>
            <a:srgbClr val="1A5F9E"/>
          </a:solidFill>
          <a:ln cap="flat" cmpd="sng" w="12700">
            <a:solidFill>
              <a:srgbClr val="1A5F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1"/>
          <p:cNvSpPr/>
          <p:nvPr/>
        </p:nvSpPr>
        <p:spPr>
          <a:xfrm>
            <a:off x="411480" y="141732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1"/>
          <p:cNvSpPr/>
          <p:nvPr/>
        </p:nvSpPr>
        <p:spPr>
          <a:xfrm>
            <a:off x="1874520" y="1417320"/>
            <a:ext cx="6949440" cy="457200"/>
          </a:xfrm>
          <a:prstGeom prst="rect">
            <a:avLst/>
          </a:prstGeom>
          <a:solidFill>
            <a:srgbClr val="FFFFFF">
              <a:alpha val="7843"/>
            </a:srgbClr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1"/>
          <p:cNvSpPr/>
          <p:nvPr/>
        </p:nvSpPr>
        <p:spPr>
          <a:xfrm>
            <a:off x="2011680" y="1426464"/>
            <a:ext cx="6720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C8D8E8"/>
                </a:solidFill>
                <a:latin typeface="Arial"/>
                <a:ea typeface="Arial"/>
                <a:cs typeface="Arial"/>
                <a:sym typeface="Arial"/>
              </a:rPr>
              <a:t>R Shiny · renderUI() · fluidRow() · tabsetPanel() · uiOutput()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1"/>
          <p:cNvSpPr/>
          <p:nvPr/>
        </p:nvSpPr>
        <p:spPr>
          <a:xfrm>
            <a:off x="411480" y="1984248"/>
            <a:ext cx="1371600" cy="457200"/>
          </a:xfrm>
          <a:prstGeom prst="rect">
            <a:avLst/>
          </a:prstGeom>
          <a:solidFill>
            <a:srgbClr val="2D6A4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1"/>
          <p:cNvSpPr/>
          <p:nvPr/>
        </p:nvSpPr>
        <p:spPr>
          <a:xfrm>
            <a:off x="411480" y="1984248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Mapping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1"/>
          <p:cNvSpPr/>
          <p:nvPr/>
        </p:nvSpPr>
        <p:spPr>
          <a:xfrm>
            <a:off x="1874520" y="1984248"/>
            <a:ext cx="6949440" cy="457200"/>
          </a:xfrm>
          <a:prstGeom prst="rect">
            <a:avLst/>
          </a:prstGeom>
          <a:solidFill>
            <a:srgbClr val="FFFFFF">
              <a:alpha val="7843"/>
            </a:srgbClr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1"/>
          <p:cNvSpPr/>
          <p:nvPr/>
        </p:nvSpPr>
        <p:spPr>
          <a:xfrm>
            <a:off x="2011680" y="1993392"/>
            <a:ext cx="6720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C8D8E8"/>
                </a:solidFill>
                <a:latin typeface="Arial"/>
                <a:ea typeface="Arial"/>
                <a:cs typeface="Arial"/>
                <a:sym typeface="Arial"/>
              </a:rPr>
              <a:t>Leaflet · addTiles() · addAwesomeMarkers() · layerId · marker_click events </a:t>
            </a:r>
            <a:r>
              <a:rPr lang="en-US" sz="1050">
                <a:solidFill>
                  <a:srgbClr val="C8D8E8"/>
                </a:solidFill>
              </a:rPr>
              <a:t>· </a:t>
            </a:r>
            <a:r>
              <a:rPr lang="en-US" sz="1050">
                <a:solidFill>
                  <a:srgbClr val="C8D8E8"/>
                </a:solidFill>
              </a:rPr>
              <a:t>Google Map API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1"/>
          <p:cNvSpPr/>
          <p:nvPr/>
        </p:nvSpPr>
        <p:spPr>
          <a:xfrm>
            <a:off x="411480" y="2551176"/>
            <a:ext cx="1371600" cy="4572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1"/>
          <p:cNvSpPr/>
          <p:nvPr/>
        </p:nvSpPr>
        <p:spPr>
          <a:xfrm>
            <a:off x="411480" y="2551176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Tables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1"/>
          <p:cNvSpPr/>
          <p:nvPr/>
        </p:nvSpPr>
        <p:spPr>
          <a:xfrm>
            <a:off x="1874520" y="2551176"/>
            <a:ext cx="6949440" cy="457200"/>
          </a:xfrm>
          <a:prstGeom prst="rect">
            <a:avLst/>
          </a:prstGeom>
          <a:solidFill>
            <a:srgbClr val="FFFFFF">
              <a:alpha val="7843"/>
            </a:srgbClr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1"/>
          <p:cNvSpPr/>
          <p:nvPr/>
        </p:nvSpPr>
        <p:spPr>
          <a:xfrm>
            <a:off x="2011680" y="2560320"/>
            <a:ext cx="6720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C8D8E8"/>
                </a:solidFill>
                <a:latin typeface="Arial"/>
                <a:ea typeface="Arial"/>
                <a:cs typeface="Arial"/>
                <a:sym typeface="Arial"/>
              </a:rPr>
              <a:t>DT::datatable() · formatStyle() · styleColorBar() · styleInterval() · dataTableProxy()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1"/>
          <p:cNvSpPr/>
          <p:nvPr/>
        </p:nvSpPr>
        <p:spPr>
          <a:xfrm>
            <a:off x="411480" y="3118104"/>
            <a:ext cx="1371600" cy="457200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1"/>
          <p:cNvSpPr/>
          <p:nvPr/>
        </p:nvSpPr>
        <p:spPr>
          <a:xfrm>
            <a:off x="411480" y="3118104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Charts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1"/>
          <p:cNvSpPr/>
          <p:nvPr/>
        </p:nvSpPr>
        <p:spPr>
          <a:xfrm>
            <a:off x="1874520" y="3118104"/>
            <a:ext cx="6949440" cy="457200"/>
          </a:xfrm>
          <a:prstGeom prst="rect">
            <a:avLst/>
          </a:prstGeom>
          <a:solidFill>
            <a:srgbClr val="FFFFFF">
              <a:alpha val="7843"/>
            </a:srgbClr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1"/>
          <p:cNvSpPr/>
          <p:nvPr/>
        </p:nvSpPr>
        <p:spPr>
          <a:xfrm>
            <a:off x="2011680" y="3127248"/>
            <a:ext cx="6720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C8D8E8"/>
                </a:solidFill>
                <a:latin typeface="Arial"/>
                <a:ea typeface="Arial"/>
                <a:cs typeface="Arial"/>
                <a:sym typeface="Arial"/>
              </a:rPr>
              <a:t>ggplot2 · geom_bar() · coord_polar() · coord_flip() · scale_fill_gradient()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1"/>
          <p:cNvSpPr/>
          <p:nvPr/>
        </p:nvSpPr>
        <p:spPr>
          <a:xfrm>
            <a:off x="411480" y="3685032"/>
            <a:ext cx="1371600" cy="457200"/>
          </a:xfrm>
          <a:prstGeom prst="rect">
            <a:avLst/>
          </a:prstGeom>
          <a:solidFill>
            <a:srgbClr val="7B2D8B"/>
          </a:solidFill>
          <a:ln cap="flat" cmpd="sng" w="12700">
            <a:solidFill>
              <a:srgbClr val="7B2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1"/>
          <p:cNvSpPr/>
          <p:nvPr/>
        </p:nvSpPr>
        <p:spPr>
          <a:xfrm>
            <a:off x="411480" y="3685032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Database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1"/>
          <p:cNvSpPr/>
          <p:nvPr/>
        </p:nvSpPr>
        <p:spPr>
          <a:xfrm>
            <a:off x="1874520" y="3685032"/>
            <a:ext cx="6949440" cy="457200"/>
          </a:xfrm>
          <a:prstGeom prst="rect">
            <a:avLst/>
          </a:prstGeom>
          <a:solidFill>
            <a:srgbClr val="FFFFFF">
              <a:alpha val="7843"/>
            </a:srgbClr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1"/>
          <p:cNvSpPr/>
          <p:nvPr/>
        </p:nvSpPr>
        <p:spPr>
          <a:xfrm>
            <a:off x="2011680" y="3694176"/>
            <a:ext cx="6720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C8D8E8"/>
                </a:solidFill>
                <a:latin typeface="Arial"/>
                <a:ea typeface="Arial"/>
                <a:cs typeface="Arial"/>
                <a:sym typeface="Arial"/>
              </a:rPr>
              <a:t>PostgreSQL (3NF) · dbGetQuery() · 8 normalized tables · Foreign keys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1"/>
          <p:cNvSpPr/>
          <p:nvPr/>
        </p:nvSpPr>
        <p:spPr>
          <a:xfrm>
            <a:off x="411480" y="4251960"/>
            <a:ext cx="1371600" cy="457200"/>
          </a:xfrm>
          <a:prstGeom prst="rect">
            <a:avLst/>
          </a:prstGeom>
          <a:solidFill>
            <a:srgbClr val="1A7A4A"/>
          </a:solidFill>
          <a:ln cap="flat" cmpd="sng" w="12700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1"/>
          <p:cNvSpPr/>
          <p:nvPr/>
        </p:nvSpPr>
        <p:spPr>
          <a:xfrm>
            <a:off x="411480" y="42519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Reactivity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1"/>
          <p:cNvSpPr/>
          <p:nvPr/>
        </p:nvSpPr>
        <p:spPr>
          <a:xfrm>
            <a:off x="1874520" y="4251960"/>
            <a:ext cx="6949440" cy="457200"/>
          </a:xfrm>
          <a:prstGeom prst="rect">
            <a:avLst/>
          </a:prstGeom>
          <a:solidFill>
            <a:srgbClr val="FFFFFF">
              <a:alpha val="7843"/>
            </a:srgbClr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1"/>
          <p:cNvSpPr/>
          <p:nvPr/>
        </p:nvSpPr>
        <p:spPr>
          <a:xfrm>
            <a:off x="2011680" y="4261104"/>
            <a:ext cx="6720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C8D8E8"/>
                </a:solidFill>
                <a:latin typeface="Arial"/>
                <a:ea typeface="Arial"/>
                <a:cs typeface="Arial"/>
                <a:sym typeface="Arial"/>
              </a:rPr>
              <a:t>reactive() · invalidateLater(1000) · observeEvent() · reactiveVal() · updateSliderInput()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1"/>
          <p:cNvSpPr/>
          <p:nvPr/>
        </p:nvSpPr>
        <p:spPr>
          <a:xfrm>
            <a:off x="0" y="4818888"/>
            <a:ext cx="201168" cy="324612"/>
          </a:xfrm>
          <a:prstGeom prst="rect">
            <a:avLst/>
          </a:prstGeom>
          <a:solidFill>
            <a:srgbClr val="FFD700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9d33918fc_0_146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d9d33918fc_0_146"/>
          <p:cNvSpPr/>
          <p:nvPr/>
        </p:nvSpPr>
        <p:spPr>
          <a:xfrm>
            <a:off x="0" y="0"/>
            <a:ext cx="190500" cy="1143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d9d33918fc_0_146"/>
          <p:cNvSpPr txBox="1"/>
          <p:nvPr/>
        </p:nvSpPr>
        <p:spPr>
          <a:xfrm>
            <a:off x="457200" y="238125"/>
            <a:ext cx="82296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3">
                <a:solidFill>
                  <a:srgbClr val="FFD700"/>
                </a:solidFill>
                <a:latin typeface="Arial"/>
                <a:ea typeface="Arial"/>
                <a:cs typeface="Arial"/>
                <a:sym typeface="Arial"/>
              </a:rPr>
              <a:t>Strategic Context &amp; Objective</a:t>
            </a:r>
            <a:endParaRPr b="1" sz="853">
              <a:solidFill>
                <a:srgbClr val="FFD7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3d9d33918fc_0_146"/>
          <p:cNvSpPr txBox="1"/>
          <p:nvPr/>
        </p:nvSpPr>
        <p:spPr>
          <a:xfrm>
            <a:off x="457200" y="523875"/>
            <a:ext cx="82296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3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The Problem &amp; Solution</a:t>
            </a:r>
            <a:endParaRPr b="0" sz="333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108" name="Google Shape;108;g3d9d33918fc_0_146"/>
          <p:cNvGrpSpPr/>
          <p:nvPr/>
        </p:nvGrpSpPr>
        <p:grpSpPr>
          <a:xfrm>
            <a:off x="457200" y="1428750"/>
            <a:ext cx="4000500" cy="1524000"/>
            <a:chOff x="0" y="0"/>
            <a:chExt cx="4000500" cy="1524000"/>
          </a:xfrm>
        </p:grpSpPr>
        <p:sp>
          <p:nvSpPr>
            <p:cNvPr id="109" name="Google Shape;109;g3d9d33918fc_0_146"/>
            <p:cNvSpPr/>
            <p:nvPr/>
          </p:nvSpPr>
          <p:spPr>
            <a:xfrm>
              <a:off x="0" y="0"/>
              <a:ext cx="4000500" cy="1524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0" name="Google Shape;110;g3d9d33918fc_0_1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4000500" cy="285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" name="Google Shape;111;g3d9d33918fc_0_146"/>
            <p:cNvSpPr txBox="1"/>
            <p:nvPr/>
          </p:nvSpPr>
          <p:spPr>
            <a:xfrm>
              <a:off x="142875" y="47625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The Problem</a:t>
              </a:r>
              <a:endParaRPr b="1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g3d9d33918fc_0_146"/>
            <p:cNvSpPr txBox="1"/>
            <p:nvPr/>
          </p:nvSpPr>
          <p:spPr>
            <a:xfrm>
              <a:off x="190500" y="428625"/>
              <a:ext cx="3619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85">
                  <a:solidFill>
                    <a:srgbClr val="1F2D3D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Logistical Chaos for 1M+ Fans</a:t>
              </a:r>
              <a:endParaRPr b="1" sz="1085">
                <a:solidFill>
                  <a:srgbClr val="1F2D3D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853">
                  <a:solidFill>
                    <a:srgbClr val="5B6570"/>
                  </a:solidFill>
                  <a:latin typeface="Arial"/>
                  <a:ea typeface="Arial"/>
                  <a:cs typeface="Arial"/>
                  <a:sym typeface="Arial"/>
                </a:rPr>
                <a:t>· </a:t>
              </a:r>
              <a:r>
                <a:rPr b="1" lang="en-US" sz="853">
                  <a:solidFill>
                    <a:srgbClr val="C0392B"/>
                  </a:solidFill>
                  <a:latin typeface="Arial"/>
                  <a:ea typeface="Arial"/>
                  <a:cs typeface="Arial"/>
                  <a:sym typeface="Arial"/>
                </a:rPr>
                <a:t>Disparate Data:</a:t>
              </a:r>
              <a:r>
                <a:rPr lang="en-US" sz="853">
                  <a:solidFill>
                    <a:srgbClr val="5B6570"/>
                  </a:solidFill>
                  <a:latin typeface="Arial"/>
                  <a:ea typeface="Arial"/>
                  <a:cs typeface="Arial"/>
                  <a:sym typeface="Arial"/>
                </a:rPr>
                <a:t> Match schedules, transit, and lodging siloed across dozens of platforms.</a:t>
              </a:r>
              <a:endParaRPr sz="853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lang="en-US" sz="853">
                  <a:solidFill>
                    <a:srgbClr val="5B6570"/>
                  </a:solidFill>
                  <a:latin typeface="Arial"/>
                  <a:ea typeface="Arial"/>
                  <a:cs typeface="Arial"/>
                  <a:sym typeface="Arial"/>
                </a:rPr>
                <a:t>· </a:t>
              </a:r>
              <a:r>
                <a:rPr b="1" lang="en-US" sz="853">
                  <a:solidFill>
                    <a:srgbClr val="C0392B"/>
                  </a:solidFill>
                  <a:latin typeface="Arial"/>
                  <a:ea typeface="Arial"/>
                  <a:cs typeface="Arial"/>
                  <a:sym typeface="Arial"/>
                </a:rPr>
                <a:t>Infrastructure Strain:</a:t>
              </a:r>
              <a:r>
                <a:rPr lang="en-US" sz="853">
                  <a:solidFill>
                    <a:srgbClr val="5B6570"/>
                  </a:solidFill>
                  <a:latin typeface="Arial"/>
                  <a:ea typeface="Arial"/>
                  <a:cs typeface="Arial"/>
                  <a:sym typeface="Arial"/>
                </a:rPr>
                <a:t> Mass influx to Gillette Stadium requires precise, real-time coordination.</a:t>
              </a:r>
              <a:endParaRPr sz="853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3" name="Google Shape;113;g3d9d33918fc_0_146"/>
          <p:cNvGrpSpPr/>
          <p:nvPr/>
        </p:nvGrpSpPr>
        <p:grpSpPr>
          <a:xfrm>
            <a:off x="457200" y="3143250"/>
            <a:ext cx="4000500" cy="1524000"/>
            <a:chOff x="0" y="0"/>
            <a:chExt cx="4000500" cy="1524000"/>
          </a:xfrm>
        </p:grpSpPr>
        <p:sp>
          <p:nvSpPr>
            <p:cNvPr id="114" name="Google Shape;114;g3d9d33918fc_0_146"/>
            <p:cNvSpPr/>
            <p:nvPr/>
          </p:nvSpPr>
          <p:spPr>
            <a:xfrm>
              <a:off x="0" y="0"/>
              <a:ext cx="4000500" cy="1524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5" name="Google Shape;115;g3d9d33918fc_0_14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4000500" cy="285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" name="Google Shape;116;g3d9d33918fc_0_146"/>
            <p:cNvSpPr txBox="1"/>
            <p:nvPr/>
          </p:nvSpPr>
          <p:spPr>
            <a:xfrm>
              <a:off x="142875" y="47625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The Solution</a:t>
              </a:r>
              <a:endParaRPr b="1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g3d9d33918fc_0_146"/>
            <p:cNvSpPr txBox="1"/>
            <p:nvPr/>
          </p:nvSpPr>
          <p:spPr>
            <a:xfrm>
              <a:off x="190500" y="428625"/>
              <a:ext cx="3619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85">
                  <a:solidFill>
                    <a:srgbClr val="1F2D3D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A Unified Fan Experience Hub</a:t>
              </a:r>
              <a:endParaRPr b="1" sz="1085">
                <a:solidFill>
                  <a:srgbClr val="1F2D3D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853">
                  <a:solidFill>
                    <a:srgbClr val="5B6570"/>
                  </a:solidFill>
                  <a:latin typeface="Arial"/>
                  <a:ea typeface="Arial"/>
                  <a:cs typeface="Arial"/>
                  <a:sym typeface="Arial"/>
                </a:rPr>
                <a:t>· </a:t>
              </a:r>
              <a:r>
                <a:rPr b="1" lang="en-US" sz="853">
                  <a:solidFill>
                    <a:srgbClr val="2D6A4F"/>
                  </a:solidFill>
                  <a:latin typeface="Arial"/>
                  <a:ea typeface="Arial"/>
                  <a:cs typeface="Arial"/>
                  <a:sym typeface="Arial"/>
                </a:rPr>
                <a:t>Centralized ETL:</a:t>
              </a:r>
              <a:r>
                <a:rPr lang="en-US" sz="853">
                  <a:solidFill>
                    <a:srgbClr val="5B6570"/>
                  </a:solidFill>
                  <a:latin typeface="Arial"/>
                  <a:ea typeface="Arial"/>
                  <a:cs typeface="Arial"/>
                  <a:sym typeface="Arial"/>
                </a:rPr>
                <a:t> Consolidates raw datasets into a single, high-performance PostgreSQL database.</a:t>
              </a:r>
              <a:endParaRPr sz="853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lang="en-US" sz="853">
                  <a:solidFill>
                    <a:srgbClr val="5B6570"/>
                  </a:solidFill>
                  <a:latin typeface="Arial"/>
                  <a:ea typeface="Arial"/>
                  <a:cs typeface="Arial"/>
                  <a:sym typeface="Arial"/>
                </a:rPr>
                <a:t>· </a:t>
              </a:r>
              <a:r>
                <a:rPr b="1" lang="en-US" sz="853">
                  <a:solidFill>
                    <a:srgbClr val="2D6A4F"/>
                  </a:solidFill>
                  <a:latin typeface="Arial"/>
                  <a:ea typeface="Arial"/>
                  <a:cs typeface="Arial"/>
                  <a:sym typeface="Arial"/>
                </a:rPr>
                <a:t>Reactive Interface:</a:t>
              </a:r>
              <a:r>
                <a:rPr lang="en-US" sz="853">
                  <a:solidFill>
                    <a:srgbClr val="5B6570"/>
                  </a:solidFill>
                  <a:latin typeface="Arial"/>
                  <a:ea typeface="Arial"/>
                  <a:cs typeface="Arial"/>
                  <a:sym typeface="Arial"/>
                </a:rPr>
                <a:t> One-stop R Shiny app for real-time navigation and planning.</a:t>
              </a:r>
              <a:endParaRPr sz="853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A high-quality, professional photograph of a crowded soccer stadium atmosphere with digital data overlays, representing a smart city or fan experience technology concept. Clean, modern, blue and red highlights to match the branding." id="118" name="Google Shape;118;g3d9d33918fc_0_146"/>
          <p:cNvPicPr preferRelativeResize="0"/>
          <p:nvPr/>
        </p:nvPicPr>
        <p:blipFill rotWithShape="1">
          <a:blip r:embed="rId5">
            <a:alphaModFix/>
          </a:blip>
          <a:srcRect b="0" l="3678" r="3678" t="0"/>
          <a:stretch/>
        </p:blipFill>
        <p:spPr>
          <a:xfrm>
            <a:off x="4686300" y="1428750"/>
            <a:ext cx="4000500" cy="3238500"/>
          </a:xfrm>
          <a:prstGeom prst="roundRect">
            <a:avLst>
              <a:gd fmla="val 3529" name="adj"/>
            </a:avLst>
          </a:prstGeom>
          <a:noFill/>
          <a:ln>
            <a:noFill/>
          </a:ln>
        </p:spPr>
      </p:pic>
      <p:pic>
        <p:nvPicPr>
          <p:cNvPr id="119" name="Google Shape;119;g3d9d33918fc_0_1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76775" y="1419225"/>
            <a:ext cx="4019700" cy="325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0" y="0"/>
            <a:ext cx="114300" cy="914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"/>
          <p:cNvSpPr/>
          <p:nvPr/>
        </p:nvSpPr>
        <p:spPr>
          <a:xfrm>
            <a:off x="347472" y="0"/>
            <a:ext cx="8503800" cy="914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DATABASE SCHEMA</a:t>
            </a:r>
            <a:endParaRPr b="1" sz="14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365760" y="960120"/>
            <a:ext cx="8412600" cy="34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5B6570"/>
                </a:solidFill>
                <a:latin typeface="Georgia"/>
                <a:ea typeface="Georgia"/>
                <a:cs typeface="Georgia"/>
                <a:sym typeface="Georgia"/>
              </a:rPr>
              <a:t>Fully normalized relational schema: ETL from raw datasets → PostgreSQL</a:t>
            </a:r>
            <a:endParaRPr i="1" sz="1200">
              <a:solidFill>
                <a:srgbClr val="5B657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285750" y="1381125"/>
            <a:ext cx="2057400" cy="952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25400">
              <a:srgbClr val="000000">
                <a:alpha val="784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"/>
          <p:cNvSpPr/>
          <p:nvPr/>
        </p:nvSpPr>
        <p:spPr>
          <a:xfrm>
            <a:off x="285750" y="1381125"/>
            <a:ext cx="2057400" cy="24780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3"/>
          <p:cNvSpPr/>
          <p:nvPr/>
        </p:nvSpPr>
        <p:spPr>
          <a:xfrm>
            <a:off x="361950" y="139065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matches</a:t>
            </a:r>
            <a:endParaRPr b="1" sz="9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361950" y="1647825"/>
            <a:ext cx="1905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47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match_id, match_number, round_number, match_datetime, location, home_team, away_team, group_name, result</a:t>
            </a:r>
            <a:endParaRPr sz="750">
              <a:solidFill>
                <a:srgbClr val="5B65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2476500" y="1381125"/>
            <a:ext cx="2057400" cy="952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25400">
              <a:srgbClr val="000000">
                <a:alpha val="784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3"/>
          <p:cNvSpPr/>
          <p:nvPr/>
        </p:nvSpPr>
        <p:spPr>
          <a:xfrm>
            <a:off x="2476500" y="1381125"/>
            <a:ext cx="2057400" cy="247800"/>
          </a:xfrm>
          <a:prstGeom prst="rect">
            <a:avLst/>
          </a:prstGeom>
          <a:solidFill>
            <a:srgbClr val="1A5F9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3"/>
          <p:cNvSpPr/>
          <p:nvPr/>
        </p:nvSpPr>
        <p:spPr>
          <a:xfrm>
            <a:off x="2552700" y="139065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teams</a:t>
            </a:r>
            <a:endParaRPr b="1" sz="9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2552700" y="1647825"/>
            <a:ext cx="1905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47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team_id, team_name</a:t>
            </a:r>
            <a:endParaRPr sz="750">
              <a:solidFill>
                <a:srgbClr val="5B65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3"/>
          <p:cNvSpPr/>
          <p:nvPr/>
        </p:nvSpPr>
        <p:spPr>
          <a:xfrm>
            <a:off x="4667250" y="1381125"/>
            <a:ext cx="2057400" cy="952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25400">
              <a:srgbClr val="000000">
                <a:alpha val="784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3"/>
          <p:cNvSpPr/>
          <p:nvPr/>
        </p:nvSpPr>
        <p:spPr>
          <a:xfrm>
            <a:off x="4667250" y="1381125"/>
            <a:ext cx="2057400" cy="24780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3"/>
          <p:cNvSpPr/>
          <p:nvPr/>
        </p:nvSpPr>
        <p:spPr>
          <a:xfrm>
            <a:off x="4743450" y="139065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players</a:t>
            </a:r>
            <a:endParaRPr b="1" sz="9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4743450" y="1647825"/>
            <a:ext cx="1905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47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player_id, player_name, team_id, club_id, position, date_of_birth, goals</a:t>
            </a:r>
            <a:endParaRPr sz="750">
              <a:solidFill>
                <a:srgbClr val="5B65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4667250" y="2524125"/>
            <a:ext cx="2057400" cy="24780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3"/>
          <p:cNvSpPr/>
          <p:nvPr/>
        </p:nvSpPr>
        <p:spPr>
          <a:xfrm>
            <a:off x="4743450" y="253365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clubs</a:t>
            </a:r>
            <a:endParaRPr b="1" sz="9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3"/>
          <p:cNvSpPr/>
          <p:nvPr/>
        </p:nvSpPr>
        <p:spPr>
          <a:xfrm>
            <a:off x="4667250" y="2524125"/>
            <a:ext cx="2057400" cy="952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25400">
              <a:srgbClr val="000000">
                <a:alpha val="784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"/>
          <p:cNvSpPr/>
          <p:nvPr/>
        </p:nvSpPr>
        <p:spPr>
          <a:xfrm>
            <a:off x="4743450" y="2790825"/>
            <a:ext cx="1905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47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club_id, club_name</a:t>
            </a:r>
            <a:endParaRPr sz="750">
              <a:solidFill>
                <a:srgbClr val="5B65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"/>
          <p:cNvSpPr/>
          <p:nvPr/>
        </p:nvSpPr>
        <p:spPr>
          <a:xfrm>
            <a:off x="285750" y="2524125"/>
            <a:ext cx="2057400" cy="952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25400">
              <a:srgbClr val="000000">
                <a:alpha val="784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3"/>
          <p:cNvSpPr/>
          <p:nvPr/>
        </p:nvSpPr>
        <p:spPr>
          <a:xfrm>
            <a:off x="285750" y="2524125"/>
            <a:ext cx="2057400" cy="247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3"/>
          <p:cNvSpPr/>
          <p:nvPr/>
        </p:nvSpPr>
        <p:spPr>
          <a:xfrm>
            <a:off x="361950" y="253365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gillette_restaurants</a:t>
            </a:r>
            <a:endParaRPr b="1" sz="9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"/>
          <p:cNvSpPr/>
          <p:nvPr/>
        </p:nvSpPr>
        <p:spPr>
          <a:xfrm>
            <a:off x="361950" y="2790825"/>
            <a:ext cx="1905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47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rest_id, title, category, stars, miles_from_stadium, latitude, longitude, address</a:t>
            </a:r>
            <a:endParaRPr sz="750">
              <a:solidFill>
                <a:srgbClr val="5B65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"/>
          <p:cNvSpPr/>
          <p:nvPr/>
        </p:nvSpPr>
        <p:spPr>
          <a:xfrm>
            <a:off x="2476500" y="2524125"/>
            <a:ext cx="2057400" cy="952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25400">
              <a:srgbClr val="000000">
                <a:alpha val="784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3"/>
          <p:cNvSpPr/>
          <p:nvPr/>
        </p:nvSpPr>
        <p:spPr>
          <a:xfrm>
            <a:off x="2476500" y="2524125"/>
            <a:ext cx="2057400" cy="247800"/>
          </a:xfrm>
          <a:prstGeom prst="rect">
            <a:avLst/>
          </a:prstGeom>
          <a:solidFill>
            <a:srgbClr val="1A5F9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3"/>
          <p:cNvSpPr/>
          <p:nvPr/>
        </p:nvSpPr>
        <p:spPr>
          <a:xfrm>
            <a:off x="2552700" y="253365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stays</a:t>
            </a:r>
            <a:endParaRPr b="1" sz="9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"/>
          <p:cNvSpPr/>
          <p:nvPr/>
        </p:nvSpPr>
        <p:spPr>
          <a:xfrm>
            <a:off x="2552700" y="2790825"/>
            <a:ext cx="1905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47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stay_id, title, category, lat, lng, stars, miles_to_stadium</a:t>
            </a:r>
            <a:endParaRPr sz="750">
              <a:solidFill>
                <a:srgbClr val="5B65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3"/>
          <p:cNvSpPr/>
          <p:nvPr/>
        </p:nvSpPr>
        <p:spPr>
          <a:xfrm>
            <a:off x="285750" y="3667125"/>
            <a:ext cx="2057400" cy="952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25400">
              <a:srgbClr val="000000">
                <a:alpha val="784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3"/>
          <p:cNvSpPr/>
          <p:nvPr/>
        </p:nvSpPr>
        <p:spPr>
          <a:xfrm>
            <a:off x="285750" y="3667125"/>
            <a:ext cx="2057400" cy="2478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3"/>
          <p:cNvSpPr/>
          <p:nvPr/>
        </p:nvSpPr>
        <p:spPr>
          <a:xfrm>
            <a:off x="361950" y="367665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transport_routes</a:t>
            </a:r>
            <a:endParaRPr b="1" sz="9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"/>
          <p:cNvSpPr/>
          <p:nvPr/>
        </p:nvSpPr>
        <p:spPr>
          <a:xfrm>
            <a:off x="361950" y="3933825"/>
            <a:ext cx="1905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47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route_id, route_name, primary_mode, origin_hub, destination_hub, est_total_time_min, fare_text, matchday_only, reservation_required</a:t>
            </a:r>
            <a:endParaRPr sz="750">
              <a:solidFill>
                <a:srgbClr val="5B65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2476500" y="3667125"/>
            <a:ext cx="2057400" cy="952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25400">
              <a:srgbClr val="000000">
                <a:alpha val="784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3"/>
          <p:cNvSpPr/>
          <p:nvPr/>
        </p:nvSpPr>
        <p:spPr>
          <a:xfrm>
            <a:off x="2476500" y="3667125"/>
            <a:ext cx="2057400" cy="2478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3"/>
          <p:cNvSpPr/>
          <p:nvPr/>
        </p:nvSpPr>
        <p:spPr>
          <a:xfrm>
            <a:off x="2552700" y="367665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route_segments</a:t>
            </a:r>
            <a:endParaRPr b="1" sz="9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2552700" y="3933825"/>
            <a:ext cx="1905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47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segment_id, route_id, segment_order, from_point, to_point, mode, line_name, operator, est_time_min</a:t>
            </a:r>
            <a:endParaRPr sz="750">
              <a:solidFill>
                <a:srgbClr val="5B65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3"/>
          <p:cNvSpPr/>
          <p:nvPr/>
        </p:nvSpPr>
        <p:spPr>
          <a:xfrm>
            <a:off x="4667250" y="3667125"/>
            <a:ext cx="2057400" cy="952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25400">
              <a:srgbClr val="000000">
                <a:alpha val="784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3"/>
          <p:cNvSpPr/>
          <p:nvPr/>
        </p:nvSpPr>
        <p:spPr>
          <a:xfrm>
            <a:off x="4667250" y="3667125"/>
            <a:ext cx="2057400" cy="24780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3"/>
          <p:cNvSpPr/>
          <p:nvPr/>
        </p:nvSpPr>
        <p:spPr>
          <a:xfrm>
            <a:off x="4743450" y="367665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ticket_categories</a:t>
            </a:r>
            <a:endParaRPr b="1" sz="9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"/>
          <p:cNvSpPr/>
          <p:nvPr/>
        </p:nvSpPr>
        <p:spPr>
          <a:xfrm>
            <a:off x="4743450" y="3933825"/>
            <a:ext cx="1905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47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category_id, category_name, description</a:t>
            </a:r>
            <a:endParaRPr sz="750">
              <a:solidFill>
                <a:srgbClr val="5B65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p3"/>
          <p:cNvPicPr preferRelativeResize="0"/>
          <p:nvPr/>
        </p:nvPicPr>
        <p:blipFill rotWithShape="1">
          <a:blip r:embed="rId3">
            <a:alphaModFix/>
          </a:blip>
          <a:srcRect b="26852" l="0" r="0" t="26852"/>
          <a:stretch/>
        </p:blipFill>
        <p:spPr>
          <a:xfrm>
            <a:off x="6858000" y="3667125"/>
            <a:ext cx="20574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3"/>
          <p:cNvSpPr/>
          <p:nvPr/>
        </p:nvSpPr>
        <p:spPr>
          <a:xfrm>
            <a:off x="6858000" y="1381125"/>
            <a:ext cx="2057400" cy="247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"/>
          <p:cNvSpPr/>
          <p:nvPr/>
        </p:nvSpPr>
        <p:spPr>
          <a:xfrm>
            <a:off x="6934200" y="139065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ticket_pricing</a:t>
            </a:r>
            <a:endParaRPr b="1" sz="9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3"/>
          <p:cNvSpPr/>
          <p:nvPr/>
        </p:nvSpPr>
        <p:spPr>
          <a:xfrm>
            <a:off x="6934200" y="1647825"/>
            <a:ext cx="1905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47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pricing_id, round_name, category_id, ticket_categories, capacity, price_usd_min, price_usd_max</a:t>
            </a:r>
            <a:endParaRPr sz="750">
              <a:solidFill>
                <a:srgbClr val="5B65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"/>
          <p:cNvSpPr/>
          <p:nvPr/>
        </p:nvSpPr>
        <p:spPr>
          <a:xfrm>
            <a:off x="6858000" y="2524125"/>
            <a:ext cx="2057400" cy="952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25400">
              <a:srgbClr val="000000">
                <a:alpha val="784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3"/>
          <p:cNvSpPr/>
          <p:nvPr/>
        </p:nvSpPr>
        <p:spPr>
          <a:xfrm>
            <a:off x="6858000" y="2524125"/>
            <a:ext cx="2057400" cy="247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3"/>
          <p:cNvSpPr/>
          <p:nvPr/>
        </p:nvSpPr>
        <p:spPr>
          <a:xfrm>
            <a:off x="6934200" y="253365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stadium_sections</a:t>
            </a:r>
            <a:endParaRPr b="1" sz="9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3"/>
          <p:cNvSpPr/>
          <p:nvPr/>
        </p:nvSpPr>
        <p:spPr>
          <a:xfrm>
            <a:off x="6934200" y="2790825"/>
            <a:ext cx="1905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47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section_id, section_name, level_name, zone, category_id</a:t>
            </a:r>
            <a:endParaRPr sz="750">
              <a:solidFill>
                <a:srgbClr val="5B65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3"/>
          <p:cNvSpPr/>
          <p:nvPr/>
        </p:nvSpPr>
        <p:spPr>
          <a:xfrm>
            <a:off x="4895850" y="154305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players</a:t>
            </a:r>
            <a:endParaRPr b="1" sz="9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3"/>
          <p:cNvSpPr/>
          <p:nvPr/>
        </p:nvSpPr>
        <p:spPr>
          <a:xfrm>
            <a:off x="4667250" y="2519288"/>
            <a:ext cx="2057400" cy="24780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3"/>
          <p:cNvSpPr/>
          <p:nvPr/>
        </p:nvSpPr>
        <p:spPr>
          <a:xfrm>
            <a:off x="4750162" y="2538475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club</a:t>
            </a: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1" sz="9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3B66"/>
          </a:solidFill>
          <a:ln cap="flat" cmpd="sng" w="12700">
            <a:solidFill>
              <a:srgbClr val="0D3B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0" y="0"/>
            <a:ext cx="182880" cy="9144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4"/>
          <p:cNvSpPr/>
          <p:nvPr/>
        </p:nvSpPr>
        <p:spPr>
          <a:xfrm>
            <a:off x="347472" y="0"/>
            <a:ext cx="8503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FEATURES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4"/>
          <p:cNvSpPr/>
          <p:nvPr/>
        </p:nvSpPr>
        <p:spPr>
          <a:xfrm>
            <a:off x="320040" y="1508760"/>
            <a:ext cx="420624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162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4"/>
          <p:cNvSpPr/>
          <p:nvPr/>
        </p:nvSpPr>
        <p:spPr>
          <a:xfrm>
            <a:off x="320040" y="1508760"/>
            <a:ext cx="109728" cy="914400"/>
          </a:xfrm>
          <a:prstGeom prst="rect">
            <a:avLst/>
          </a:prstGeom>
          <a:solidFill>
            <a:srgbClr val="1A5F9E"/>
          </a:solidFill>
          <a:ln cap="flat" cmpd="sng" w="12700">
            <a:solidFill>
              <a:srgbClr val="1A5F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4"/>
          <p:cNvSpPr/>
          <p:nvPr/>
        </p:nvSpPr>
        <p:spPr>
          <a:xfrm>
            <a:off x="658368" y="1572768"/>
            <a:ext cx="28346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3D"/>
              </a:buClr>
              <a:buSzPts val="1100"/>
              <a:buFont typeface="Arial Black"/>
              <a:buNone/>
            </a:pPr>
            <a:r>
              <a:rPr b="1" lang="en-US" sz="1100">
                <a:solidFill>
                  <a:srgbClr val="1F2D3D"/>
                </a:solidFill>
                <a:latin typeface="Arial Black"/>
                <a:ea typeface="Arial Black"/>
                <a:cs typeface="Arial Black"/>
                <a:sym typeface="Arial Black"/>
              </a:rPr>
              <a:t>Match Participants, Dates &amp; Times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3520440" y="1600200"/>
            <a:ext cx="896112" cy="237744"/>
          </a:xfrm>
          <a:prstGeom prst="rect">
            <a:avLst/>
          </a:prstGeom>
          <a:solidFill>
            <a:srgbClr val="1A5F9E"/>
          </a:solidFill>
          <a:ln cap="flat" cmpd="sng" w="12700">
            <a:solidFill>
              <a:srgbClr val="1A5F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4"/>
          <p:cNvSpPr/>
          <p:nvPr/>
        </p:nvSpPr>
        <p:spPr>
          <a:xfrm>
            <a:off x="3520440" y="1600200"/>
            <a:ext cx="8961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Matches tab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4"/>
          <p:cNvSpPr/>
          <p:nvPr/>
        </p:nvSpPr>
        <p:spPr>
          <a:xfrm>
            <a:off x="658368" y="1947672"/>
            <a:ext cx="37490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7 match cards — home/away teams, kickoff time,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group, round, countdown, add-to-calendar link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4"/>
          <p:cNvSpPr/>
          <p:nvPr/>
        </p:nvSpPr>
        <p:spPr>
          <a:xfrm>
            <a:off x="320040" y="2532888"/>
            <a:ext cx="420624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162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320040" y="2532888"/>
            <a:ext cx="109728" cy="914400"/>
          </a:xfrm>
          <a:prstGeom prst="rect">
            <a:avLst/>
          </a:prstGeom>
          <a:solidFill>
            <a:srgbClr val="2D6A4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"/>
          <p:cNvSpPr/>
          <p:nvPr/>
        </p:nvSpPr>
        <p:spPr>
          <a:xfrm>
            <a:off x="658368" y="2596896"/>
            <a:ext cx="28346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3D"/>
              </a:buClr>
              <a:buSzPts val="1100"/>
              <a:buFont typeface="Arial Black"/>
              <a:buNone/>
            </a:pPr>
            <a:r>
              <a:rPr b="1" lang="en-US" sz="1100">
                <a:solidFill>
                  <a:srgbClr val="1F2D3D"/>
                </a:solidFill>
                <a:latin typeface="Arial Black"/>
                <a:ea typeface="Arial Black"/>
                <a:cs typeface="Arial Black"/>
                <a:sym typeface="Arial Black"/>
              </a:rPr>
              <a:t>Ticketing Options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4"/>
          <p:cNvSpPr/>
          <p:nvPr/>
        </p:nvSpPr>
        <p:spPr>
          <a:xfrm>
            <a:off x="3520440" y="2624328"/>
            <a:ext cx="896112" cy="237744"/>
          </a:xfrm>
          <a:prstGeom prst="rect">
            <a:avLst/>
          </a:prstGeom>
          <a:solidFill>
            <a:srgbClr val="2D6A4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4"/>
          <p:cNvSpPr/>
          <p:nvPr/>
        </p:nvSpPr>
        <p:spPr>
          <a:xfrm>
            <a:off x="3520440" y="2624328"/>
            <a:ext cx="8961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Stadium tab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4"/>
          <p:cNvSpPr/>
          <p:nvPr/>
        </p:nvSpPr>
        <p:spPr>
          <a:xfrm>
            <a:off x="658368" y="2971800"/>
            <a:ext cx="37490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5B6570"/>
                </a:solidFill>
              </a:rPr>
              <a:t>Interacting pricing that maps stadium sections to predicted cost tiers that allows users to filter seating based on match round, view quality, and budget.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4"/>
          <p:cNvSpPr/>
          <p:nvPr/>
        </p:nvSpPr>
        <p:spPr>
          <a:xfrm>
            <a:off x="320040" y="3557016"/>
            <a:ext cx="420624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162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4"/>
          <p:cNvSpPr/>
          <p:nvPr/>
        </p:nvSpPr>
        <p:spPr>
          <a:xfrm>
            <a:off x="320040" y="3557016"/>
            <a:ext cx="109728" cy="9144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4"/>
          <p:cNvSpPr/>
          <p:nvPr/>
        </p:nvSpPr>
        <p:spPr>
          <a:xfrm>
            <a:off x="658368" y="3621024"/>
            <a:ext cx="28346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3D"/>
              </a:buClr>
              <a:buSzPts val="1100"/>
              <a:buFont typeface="Arial Black"/>
              <a:buNone/>
            </a:pPr>
            <a:r>
              <a:rPr b="1" lang="en-US" sz="1100">
                <a:solidFill>
                  <a:srgbClr val="1F2D3D"/>
                </a:solidFill>
                <a:latin typeface="Arial Black"/>
                <a:ea typeface="Arial Black"/>
                <a:cs typeface="Arial Black"/>
                <a:sym typeface="Arial Black"/>
              </a:rPr>
              <a:t>Travel, Lodging &amp; Dining Planning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4"/>
          <p:cNvSpPr/>
          <p:nvPr/>
        </p:nvSpPr>
        <p:spPr>
          <a:xfrm>
            <a:off x="3520440" y="3648456"/>
            <a:ext cx="896112" cy="237744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4"/>
          <p:cNvSpPr/>
          <p:nvPr/>
        </p:nvSpPr>
        <p:spPr>
          <a:xfrm>
            <a:off x="3520440" y="3648456"/>
            <a:ext cx="8961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tabs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4"/>
          <p:cNvSpPr/>
          <p:nvPr/>
        </p:nvSpPr>
        <p:spPr>
          <a:xfrm>
            <a:off x="658368" y="3995928"/>
            <a:ext cx="37490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Transport routes with step-by-step directions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+ Lodging map + Dining filter &amp; map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4"/>
          <p:cNvSpPr/>
          <p:nvPr/>
        </p:nvSpPr>
        <p:spPr>
          <a:xfrm>
            <a:off x="4709160" y="1508760"/>
            <a:ext cx="4114800" cy="731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162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4"/>
          <p:cNvSpPr/>
          <p:nvPr/>
        </p:nvSpPr>
        <p:spPr>
          <a:xfrm>
            <a:off x="4709160" y="1508760"/>
            <a:ext cx="109728" cy="731520"/>
          </a:xfrm>
          <a:prstGeom prst="rect">
            <a:avLst/>
          </a:prstGeom>
          <a:solidFill>
            <a:srgbClr val="1A5F9E"/>
          </a:solidFill>
          <a:ln cap="flat" cmpd="sng" w="12700">
            <a:solidFill>
              <a:srgbClr val="1A5F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4"/>
          <p:cNvSpPr/>
          <p:nvPr/>
        </p:nvSpPr>
        <p:spPr>
          <a:xfrm>
            <a:off x="4864608" y="1563624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3D"/>
              </a:buClr>
              <a:buSzPts val="1100"/>
              <a:buFont typeface="Arial Black"/>
              <a:buNone/>
            </a:pPr>
            <a:r>
              <a:rPr b="1" lang="en-US" sz="1100">
                <a:solidFill>
                  <a:srgbClr val="1F2D3D"/>
                </a:solidFill>
                <a:latin typeface="Arial Black"/>
                <a:ea typeface="Arial Black"/>
                <a:cs typeface="Arial Black"/>
                <a:sym typeface="Arial Black"/>
              </a:rPr>
              <a:t>★  Live Countdown Timer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4"/>
          <p:cNvSpPr/>
          <p:nvPr/>
        </p:nvSpPr>
        <p:spPr>
          <a:xfrm>
            <a:off x="4864608" y="1874520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Ticks every second via invalidateLater(1000)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showing days/hours/minutes/seconds to kickoff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4"/>
          <p:cNvSpPr/>
          <p:nvPr/>
        </p:nvSpPr>
        <p:spPr>
          <a:xfrm>
            <a:off x="4709160" y="2313432"/>
            <a:ext cx="4114800" cy="731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162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4"/>
          <p:cNvSpPr/>
          <p:nvPr/>
        </p:nvSpPr>
        <p:spPr>
          <a:xfrm>
            <a:off x="4709160" y="2313432"/>
            <a:ext cx="109728" cy="731520"/>
          </a:xfrm>
          <a:prstGeom prst="rect">
            <a:avLst/>
          </a:prstGeom>
          <a:solidFill>
            <a:srgbClr val="2D6A4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4"/>
          <p:cNvSpPr/>
          <p:nvPr/>
        </p:nvSpPr>
        <p:spPr>
          <a:xfrm>
            <a:off x="4864608" y="2368296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3D"/>
              </a:buClr>
              <a:buSzPts val="1100"/>
              <a:buFont typeface="Arial Black"/>
              <a:buNone/>
            </a:pPr>
            <a:r>
              <a:rPr b="1" lang="en-US" sz="1100">
                <a:solidFill>
                  <a:srgbClr val="1F2D3D"/>
                </a:solidFill>
                <a:latin typeface="Arial Black"/>
                <a:ea typeface="Arial Black"/>
                <a:cs typeface="Arial Black"/>
                <a:sym typeface="Arial Black"/>
              </a:rPr>
              <a:t>★  Interactive Leaflet Maps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4"/>
          <p:cNvSpPr/>
          <p:nvPr/>
        </p:nvSpPr>
        <p:spPr>
          <a:xfrm>
            <a:off x="4864608" y="2679192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Dining &amp; Lodging: pin-click opens detail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panel with Google Maps deep-link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4"/>
          <p:cNvSpPr/>
          <p:nvPr/>
        </p:nvSpPr>
        <p:spPr>
          <a:xfrm>
            <a:off x="4709160" y="3118104"/>
            <a:ext cx="4114800" cy="731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162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4"/>
          <p:cNvSpPr/>
          <p:nvPr/>
        </p:nvSpPr>
        <p:spPr>
          <a:xfrm>
            <a:off x="4709160" y="3118104"/>
            <a:ext cx="109728" cy="731520"/>
          </a:xfrm>
          <a:prstGeom prst="rect">
            <a:avLst/>
          </a:prstGeom>
          <a:solidFill>
            <a:srgbClr val="7B2D8B"/>
          </a:solidFill>
          <a:ln cap="flat" cmpd="sng" w="12700">
            <a:solidFill>
              <a:srgbClr val="7B2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4"/>
          <p:cNvSpPr/>
          <p:nvPr/>
        </p:nvSpPr>
        <p:spPr>
          <a:xfrm>
            <a:off x="4864608" y="3172968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3D"/>
              </a:buClr>
              <a:buSzPts val="1100"/>
              <a:buFont typeface="Arial Black"/>
              <a:buNone/>
            </a:pPr>
            <a:r>
              <a:rPr b="1" lang="en-US" sz="1100">
                <a:solidFill>
                  <a:srgbClr val="1F2D3D"/>
                </a:solidFill>
                <a:latin typeface="Arial Black"/>
                <a:ea typeface="Arial Black"/>
                <a:cs typeface="Arial Black"/>
                <a:sym typeface="Arial Black"/>
              </a:rPr>
              <a:t>★  Player &amp; Team Explorer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4"/>
          <p:cNvSpPr/>
          <p:nvPr/>
        </p:nvSpPr>
        <p:spPr>
          <a:xfrm>
            <a:off x="4864608" y="3483864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Filter by team/position, ggplot2 donut &amp;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bar charts, top-scorer spotlight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4"/>
          <p:cNvSpPr/>
          <p:nvPr/>
        </p:nvSpPr>
        <p:spPr>
          <a:xfrm>
            <a:off x="4709160" y="3922776"/>
            <a:ext cx="4114800" cy="731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162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4"/>
          <p:cNvSpPr/>
          <p:nvPr/>
        </p:nvSpPr>
        <p:spPr>
          <a:xfrm>
            <a:off x="4709160" y="3922776"/>
            <a:ext cx="109728" cy="731520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4"/>
          <p:cNvSpPr/>
          <p:nvPr/>
        </p:nvSpPr>
        <p:spPr>
          <a:xfrm>
            <a:off x="4864608" y="3977640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3D"/>
              </a:buClr>
              <a:buSzPts val="1100"/>
              <a:buFont typeface="Arial Black"/>
              <a:buNone/>
            </a:pPr>
            <a:r>
              <a:rPr b="1" lang="en-US" sz="1100">
                <a:solidFill>
                  <a:srgbClr val="1F2D3D"/>
                </a:solidFill>
                <a:latin typeface="Arial Black"/>
                <a:ea typeface="Arial Black"/>
                <a:cs typeface="Arial Black"/>
                <a:sym typeface="Arial Black"/>
              </a:rPr>
              <a:t>★  Transport Route Embed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4"/>
          <p:cNvSpPr/>
          <p:nvPr/>
        </p:nvSpPr>
        <p:spPr>
          <a:xfrm>
            <a:off x="4864608" y="4288536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Live Google Maps Directions iframe per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route — step-by-step segments table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d9eec32958_26_14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d9eec32958_26_14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d9eec32958_26_146"/>
          <p:cNvSpPr/>
          <p:nvPr/>
        </p:nvSpPr>
        <p:spPr>
          <a:xfrm>
            <a:off x="0" y="0"/>
            <a:ext cx="180900" cy="91440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d9eec32958_26_146"/>
          <p:cNvSpPr txBox="1"/>
          <p:nvPr/>
        </p:nvSpPr>
        <p:spPr>
          <a:xfrm>
            <a:off x="342900" y="0"/>
            <a:ext cx="8496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APPLICATION</a:t>
            </a:r>
            <a:endParaRPr b="1" sz="14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225" name="Google Shape;225;g3d9eec32958_26_146"/>
          <p:cNvGrpSpPr/>
          <p:nvPr/>
        </p:nvGrpSpPr>
        <p:grpSpPr>
          <a:xfrm>
            <a:off x="285750" y="1095375"/>
            <a:ext cx="2028900" cy="1143075"/>
            <a:chOff x="0" y="0"/>
            <a:chExt cx="2028900" cy="1143075"/>
          </a:xfrm>
        </p:grpSpPr>
        <p:sp>
          <p:nvSpPr>
            <p:cNvPr id="226" name="Google Shape;226;g3d9eec32958_26_146"/>
            <p:cNvSpPr/>
            <p:nvPr/>
          </p:nvSpPr>
          <p:spPr>
            <a:xfrm>
              <a:off x="0" y="0"/>
              <a:ext cx="2028900" cy="11430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g3d9eec32958_26_146"/>
            <p:cNvSpPr/>
            <p:nvPr/>
          </p:nvSpPr>
          <p:spPr>
            <a:xfrm>
              <a:off x="0" y="0"/>
              <a:ext cx="2028900" cy="142800"/>
            </a:xfrm>
            <a:prstGeom prst="rect">
              <a:avLst/>
            </a:prstGeom>
            <a:solidFill>
              <a:srgbClr val="1A5F9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g3d9eec32958_26_146"/>
            <p:cNvSpPr/>
            <p:nvPr/>
          </p:nvSpPr>
          <p:spPr>
            <a:xfrm>
              <a:off x="0" y="142875"/>
              <a:ext cx="76200" cy="1000200"/>
            </a:xfrm>
            <a:prstGeom prst="rect">
              <a:avLst/>
            </a:prstGeom>
            <a:solidFill>
              <a:srgbClr val="1A5F9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29" name="Google Shape;229;g3d9eec32958_26_1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4300" y="238125"/>
              <a:ext cx="381000" cy="381000"/>
            </a:xfrm>
            <a:prstGeom prst="roundRect">
              <a:avLst>
                <a:gd fmla="val 10000" name="adj"/>
              </a:avLst>
            </a:prstGeom>
            <a:noFill/>
            <a:ln>
              <a:noFill/>
            </a:ln>
          </p:spPr>
        </p:pic>
        <p:sp>
          <p:nvSpPr>
            <p:cNvPr id="230" name="Google Shape;230;g3d9eec32958_26_146"/>
            <p:cNvSpPr txBox="1"/>
            <p:nvPr/>
          </p:nvSpPr>
          <p:spPr>
            <a:xfrm>
              <a:off x="571500" y="238125"/>
              <a:ext cx="1381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F2D3D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Home</a:t>
              </a:r>
              <a:endParaRPr b="1" sz="1400">
                <a:solidFill>
                  <a:srgbClr val="1F2D3D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31" name="Google Shape;231;g3d9eec32958_26_146"/>
            <p:cNvSpPr txBox="1"/>
            <p:nvPr/>
          </p:nvSpPr>
          <p:spPr>
            <a:xfrm>
              <a:off x="142875" y="666750"/>
              <a:ext cx="18096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5B6570"/>
                  </a:solidFill>
                  <a:latin typeface="Arial"/>
                  <a:ea typeface="Arial"/>
                  <a:cs typeface="Arial"/>
                  <a:sym typeface="Arial"/>
                </a:rPr>
                <a:t>Hero banner · countdown timer · 5 match preview cards</a:t>
              </a:r>
              <a:endParaRPr b="0" sz="95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2" name="Google Shape;232;g3d9eec32958_26_146"/>
          <p:cNvGrpSpPr/>
          <p:nvPr/>
        </p:nvGrpSpPr>
        <p:grpSpPr>
          <a:xfrm>
            <a:off x="2466975" y="1095375"/>
            <a:ext cx="2028900" cy="1143075"/>
            <a:chOff x="0" y="0"/>
            <a:chExt cx="2028900" cy="1143075"/>
          </a:xfrm>
        </p:grpSpPr>
        <p:sp>
          <p:nvSpPr>
            <p:cNvPr id="233" name="Google Shape;233;g3d9eec32958_26_146"/>
            <p:cNvSpPr/>
            <p:nvPr/>
          </p:nvSpPr>
          <p:spPr>
            <a:xfrm>
              <a:off x="0" y="0"/>
              <a:ext cx="2028900" cy="11430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g3d9eec32958_26_146"/>
            <p:cNvSpPr/>
            <p:nvPr/>
          </p:nvSpPr>
          <p:spPr>
            <a:xfrm>
              <a:off x="0" y="0"/>
              <a:ext cx="2028900" cy="142800"/>
            </a:xfrm>
            <a:prstGeom prst="rect">
              <a:avLst/>
            </a:prstGeom>
            <a:solidFill>
              <a:srgbClr val="1A5F9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g3d9eec32958_26_146"/>
            <p:cNvSpPr/>
            <p:nvPr/>
          </p:nvSpPr>
          <p:spPr>
            <a:xfrm>
              <a:off x="0" y="142875"/>
              <a:ext cx="76200" cy="1000200"/>
            </a:xfrm>
            <a:prstGeom prst="rect">
              <a:avLst/>
            </a:prstGeom>
            <a:solidFill>
              <a:srgbClr val="1A5F9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36" name="Google Shape;236;g3d9eec32958_26_14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4300" y="238125"/>
              <a:ext cx="381000" cy="381000"/>
            </a:xfrm>
            <a:prstGeom prst="roundRect">
              <a:avLst>
                <a:gd fmla="val 10000" name="adj"/>
              </a:avLst>
            </a:prstGeom>
            <a:noFill/>
            <a:ln>
              <a:noFill/>
            </a:ln>
          </p:spPr>
        </p:pic>
        <p:sp>
          <p:nvSpPr>
            <p:cNvPr id="237" name="Google Shape;237;g3d9eec32958_26_146"/>
            <p:cNvSpPr txBox="1"/>
            <p:nvPr/>
          </p:nvSpPr>
          <p:spPr>
            <a:xfrm>
              <a:off x="571500" y="238125"/>
              <a:ext cx="1381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F2D3D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Matches</a:t>
              </a:r>
              <a:endParaRPr b="1" sz="1400">
                <a:solidFill>
                  <a:srgbClr val="1F2D3D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38" name="Google Shape;238;g3d9eec32958_26_146"/>
            <p:cNvSpPr txBox="1"/>
            <p:nvPr/>
          </p:nvSpPr>
          <p:spPr>
            <a:xfrm>
              <a:off x="142875" y="666750"/>
              <a:ext cx="18096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5B6570"/>
                  </a:solidFill>
                  <a:latin typeface="Arial"/>
                  <a:ea typeface="Arial"/>
                  <a:cs typeface="Arial"/>
                  <a:sym typeface="Arial"/>
                </a:rPr>
                <a:t>7 match cards · kickoff countdown · group/round · calendar</a:t>
              </a:r>
              <a:endParaRPr b="0" sz="95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9" name="Google Shape;239;g3d9eec32958_26_146"/>
          <p:cNvGrpSpPr/>
          <p:nvPr/>
        </p:nvGrpSpPr>
        <p:grpSpPr>
          <a:xfrm>
            <a:off x="4638675" y="1095375"/>
            <a:ext cx="2028900" cy="1143075"/>
            <a:chOff x="0" y="0"/>
            <a:chExt cx="2028900" cy="1143075"/>
          </a:xfrm>
        </p:grpSpPr>
        <p:sp>
          <p:nvSpPr>
            <p:cNvPr id="240" name="Google Shape;240;g3d9eec32958_26_146"/>
            <p:cNvSpPr/>
            <p:nvPr/>
          </p:nvSpPr>
          <p:spPr>
            <a:xfrm>
              <a:off x="0" y="0"/>
              <a:ext cx="2028900" cy="11430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g3d9eec32958_26_146"/>
            <p:cNvSpPr/>
            <p:nvPr/>
          </p:nvSpPr>
          <p:spPr>
            <a:xfrm>
              <a:off x="0" y="0"/>
              <a:ext cx="2028900" cy="142800"/>
            </a:xfrm>
            <a:prstGeom prst="rect">
              <a:avLst/>
            </a:prstGeom>
            <a:solidFill>
              <a:srgbClr val="C039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g3d9eec32958_26_146"/>
            <p:cNvSpPr/>
            <p:nvPr/>
          </p:nvSpPr>
          <p:spPr>
            <a:xfrm>
              <a:off x="0" y="142875"/>
              <a:ext cx="76200" cy="1000200"/>
            </a:xfrm>
            <a:prstGeom prst="rect">
              <a:avLst/>
            </a:prstGeom>
            <a:solidFill>
              <a:srgbClr val="C039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43" name="Google Shape;243;g3d9eec32958_26_14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4300" y="238125"/>
              <a:ext cx="381000" cy="381000"/>
            </a:xfrm>
            <a:prstGeom prst="roundRect">
              <a:avLst>
                <a:gd fmla="val 10000" name="adj"/>
              </a:avLst>
            </a:prstGeom>
            <a:noFill/>
            <a:ln>
              <a:noFill/>
            </a:ln>
          </p:spPr>
        </p:pic>
        <p:sp>
          <p:nvSpPr>
            <p:cNvPr id="244" name="Google Shape;244;g3d9eec32958_26_146"/>
            <p:cNvSpPr txBox="1"/>
            <p:nvPr/>
          </p:nvSpPr>
          <p:spPr>
            <a:xfrm>
              <a:off x="571500" y="238125"/>
              <a:ext cx="1381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F2D3D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Dining</a:t>
              </a:r>
              <a:endParaRPr b="1" sz="1400">
                <a:solidFill>
                  <a:srgbClr val="1F2D3D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45" name="Google Shape;245;g3d9eec32958_26_146"/>
            <p:cNvSpPr txBox="1"/>
            <p:nvPr/>
          </p:nvSpPr>
          <p:spPr>
            <a:xfrm>
              <a:off x="142875" y="666750"/>
              <a:ext cx="18096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5B6570"/>
                  </a:solidFill>
                  <a:latin typeface="Arial"/>
                  <a:ea typeface="Arial"/>
                  <a:cs typeface="Arial"/>
                  <a:sym typeface="Arial"/>
                </a:rPr>
                <a:t>Leaflet map · filter by distance · stars &amp; cuisine</a:t>
              </a:r>
              <a:endParaRPr b="0" sz="95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6" name="Google Shape;246;g3d9eec32958_26_146"/>
          <p:cNvGrpSpPr/>
          <p:nvPr/>
        </p:nvGrpSpPr>
        <p:grpSpPr>
          <a:xfrm>
            <a:off x="6819900" y="1095375"/>
            <a:ext cx="2028900" cy="1143075"/>
            <a:chOff x="0" y="0"/>
            <a:chExt cx="2028900" cy="1143075"/>
          </a:xfrm>
        </p:grpSpPr>
        <p:sp>
          <p:nvSpPr>
            <p:cNvPr id="247" name="Google Shape;247;g3d9eec32958_26_146"/>
            <p:cNvSpPr/>
            <p:nvPr/>
          </p:nvSpPr>
          <p:spPr>
            <a:xfrm>
              <a:off x="0" y="0"/>
              <a:ext cx="2028900" cy="11430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g3d9eec32958_26_146"/>
            <p:cNvSpPr/>
            <p:nvPr/>
          </p:nvSpPr>
          <p:spPr>
            <a:xfrm>
              <a:off x="0" y="0"/>
              <a:ext cx="2028900" cy="142800"/>
            </a:xfrm>
            <a:prstGeom prst="rect">
              <a:avLst/>
            </a:prstGeom>
            <a:solidFill>
              <a:srgbClr val="1A5F9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g3d9eec32958_26_146"/>
            <p:cNvSpPr/>
            <p:nvPr/>
          </p:nvSpPr>
          <p:spPr>
            <a:xfrm>
              <a:off x="0" y="142875"/>
              <a:ext cx="76200" cy="1000200"/>
            </a:xfrm>
            <a:prstGeom prst="rect">
              <a:avLst/>
            </a:prstGeom>
            <a:solidFill>
              <a:srgbClr val="1A5F9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50" name="Google Shape;250;g3d9eec32958_26_14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4300" y="238125"/>
              <a:ext cx="381000" cy="381000"/>
            </a:xfrm>
            <a:prstGeom prst="roundRect">
              <a:avLst>
                <a:gd fmla="val 10000" name="adj"/>
              </a:avLst>
            </a:prstGeom>
            <a:noFill/>
            <a:ln>
              <a:noFill/>
            </a:ln>
          </p:spPr>
        </p:pic>
        <p:sp>
          <p:nvSpPr>
            <p:cNvPr id="251" name="Google Shape;251;g3d9eec32958_26_146"/>
            <p:cNvSpPr txBox="1"/>
            <p:nvPr/>
          </p:nvSpPr>
          <p:spPr>
            <a:xfrm>
              <a:off x="571500" y="238125"/>
              <a:ext cx="1381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F2D3D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Lodging</a:t>
              </a:r>
              <a:endParaRPr b="1" sz="1400">
                <a:solidFill>
                  <a:srgbClr val="1F2D3D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52" name="Google Shape;252;g3d9eec32958_26_146"/>
            <p:cNvSpPr txBox="1"/>
            <p:nvPr/>
          </p:nvSpPr>
          <p:spPr>
            <a:xfrm>
              <a:off x="142875" y="666750"/>
              <a:ext cx="18096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5B6570"/>
                  </a:solidFill>
                  <a:latin typeface="Arial"/>
                  <a:ea typeface="Arial"/>
                  <a:cs typeface="Arial"/>
                  <a:sym typeface="Arial"/>
                </a:rPr>
                <a:t>Hotels near Gillette · filter by distance &amp; stars</a:t>
              </a:r>
              <a:endParaRPr b="0" sz="95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3" name="Google Shape;253;g3d9eec32958_26_146"/>
          <p:cNvGrpSpPr/>
          <p:nvPr/>
        </p:nvGrpSpPr>
        <p:grpSpPr>
          <a:xfrm>
            <a:off x="285750" y="2381250"/>
            <a:ext cx="2028900" cy="1143075"/>
            <a:chOff x="0" y="0"/>
            <a:chExt cx="2028900" cy="1143075"/>
          </a:xfrm>
        </p:grpSpPr>
        <p:sp>
          <p:nvSpPr>
            <p:cNvPr id="254" name="Google Shape;254;g3d9eec32958_26_146"/>
            <p:cNvSpPr/>
            <p:nvPr/>
          </p:nvSpPr>
          <p:spPr>
            <a:xfrm>
              <a:off x="0" y="0"/>
              <a:ext cx="2028900" cy="11430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g3d9eec32958_26_146"/>
            <p:cNvSpPr/>
            <p:nvPr/>
          </p:nvSpPr>
          <p:spPr>
            <a:xfrm>
              <a:off x="0" y="0"/>
              <a:ext cx="2028900" cy="142800"/>
            </a:xfrm>
            <a:prstGeom prst="rect">
              <a:avLst/>
            </a:prstGeom>
            <a:solidFill>
              <a:srgbClr val="7B2D8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g3d9eec32958_26_146"/>
            <p:cNvSpPr/>
            <p:nvPr/>
          </p:nvSpPr>
          <p:spPr>
            <a:xfrm>
              <a:off x="0" y="142875"/>
              <a:ext cx="76200" cy="1000200"/>
            </a:xfrm>
            <a:prstGeom prst="rect">
              <a:avLst/>
            </a:prstGeom>
            <a:solidFill>
              <a:srgbClr val="7B2D8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57" name="Google Shape;257;g3d9eec32958_26_14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14300" y="238125"/>
              <a:ext cx="381000" cy="381000"/>
            </a:xfrm>
            <a:prstGeom prst="roundRect">
              <a:avLst>
                <a:gd fmla="val 10000" name="adj"/>
              </a:avLst>
            </a:prstGeom>
            <a:noFill/>
            <a:ln>
              <a:noFill/>
            </a:ln>
          </p:spPr>
        </p:pic>
        <p:sp>
          <p:nvSpPr>
            <p:cNvPr id="258" name="Google Shape;258;g3d9eec32958_26_146"/>
            <p:cNvSpPr txBox="1"/>
            <p:nvPr/>
          </p:nvSpPr>
          <p:spPr>
            <a:xfrm>
              <a:off x="571500" y="238125"/>
              <a:ext cx="1381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F2D3D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Transport</a:t>
              </a:r>
              <a:endParaRPr b="1" sz="1400">
                <a:solidFill>
                  <a:srgbClr val="1F2D3D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59" name="Google Shape;259;g3d9eec32958_26_146"/>
            <p:cNvSpPr txBox="1"/>
            <p:nvPr/>
          </p:nvSpPr>
          <p:spPr>
            <a:xfrm>
              <a:off x="142875" y="666750"/>
              <a:ext cx="18096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5B6570"/>
                  </a:solidFill>
                  <a:latin typeface="Arial"/>
                  <a:ea typeface="Arial"/>
                  <a:cs typeface="Arial"/>
                  <a:sym typeface="Arial"/>
                </a:rPr>
                <a:t>Route selector · step-by-step · live Maps embed</a:t>
              </a:r>
              <a:endParaRPr b="0" sz="95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0" name="Google Shape;260;g3d9eec32958_26_146"/>
          <p:cNvGrpSpPr/>
          <p:nvPr/>
        </p:nvGrpSpPr>
        <p:grpSpPr>
          <a:xfrm>
            <a:off x="2466975" y="2381250"/>
            <a:ext cx="2028900" cy="1143075"/>
            <a:chOff x="0" y="0"/>
            <a:chExt cx="2028900" cy="1143075"/>
          </a:xfrm>
        </p:grpSpPr>
        <p:sp>
          <p:nvSpPr>
            <p:cNvPr id="261" name="Google Shape;261;g3d9eec32958_26_146"/>
            <p:cNvSpPr/>
            <p:nvPr/>
          </p:nvSpPr>
          <p:spPr>
            <a:xfrm>
              <a:off x="0" y="0"/>
              <a:ext cx="2028900" cy="11430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g3d9eec32958_26_146"/>
            <p:cNvSpPr/>
            <p:nvPr/>
          </p:nvSpPr>
          <p:spPr>
            <a:xfrm>
              <a:off x="0" y="0"/>
              <a:ext cx="2028900" cy="142800"/>
            </a:xfrm>
            <a:prstGeom prst="rect">
              <a:avLst/>
            </a:prstGeom>
            <a:solidFill>
              <a:srgbClr val="2D6A4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g3d9eec32958_26_146"/>
            <p:cNvSpPr/>
            <p:nvPr/>
          </p:nvSpPr>
          <p:spPr>
            <a:xfrm>
              <a:off x="0" y="142875"/>
              <a:ext cx="76200" cy="1000200"/>
            </a:xfrm>
            <a:prstGeom prst="rect">
              <a:avLst/>
            </a:prstGeom>
            <a:solidFill>
              <a:srgbClr val="2D6A4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64" name="Google Shape;264;g3d9eec32958_26_14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14300" y="238125"/>
              <a:ext cx="381000" cy="381000"/>
            </a:xfrm>
            <a:prstGeom prst="roundRect">
              <a:avLst>
                <a:gd fmla="val 10000" name="adj"/>
              </a:avLst>
            </a:prstGeom>
            <a:noFill/>
            <a:ln>
              <a:noFill/>
            </a:ln>
          </p:spPr>
        </p:pic>
        <p:sp>
          <p:nvSpPr>
            <p:cNvPr id="265" name="Google Shape;265;g3d9eec32958_26_146"/>
            <p:cNvSpPr txBox="1"/>
            <p:nvPr/>
          </p:nvSpPr>
          <p:spPr>
            <a:xfrm>
              <a:off x="571500" y="238125"/>
              <a:ext cx="1381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F2D3D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Stadium</a:t>
              </a:r>
              <a:endParaRPr b="1" sz="1400">
                <a:solidFill>
                  <a:srgbClr val="1F2D3D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66" name="Google Shape;266;g3d9eec32958_26_146"/>
            <p:cNvSpPr txBox="1"/>
            <p:nvPr/>
          </p:nvSpPr>
          <p:spPr>
            <a:xfrm>
              <a:off x="142875" y="666750"/>
              <a:ext cx="18096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5B6570"/>
                  </a:solidFill>
                  <a:latin typeface="Arial"/>
                  <a:ea typeface="Arial"/>
                  <a:cs typeface="Arial"/>
                  <a:sym typeface="Arial"/>
                </a:rPr>
                <a:t>Gillette guide · checklist · about the venue</a:t>
              </a:r>
              <a:endParaRPr b="0" sz="95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7" name="Google Shape;267;g3d9eec32958_26_146"/>
          <p:cNvGrpSpPr/>
          <p:nvPr/>
        </p:nvGrpSpPr>
        <p:grpSpPr>
          <a:xfrm>
            <a:off x="4638675" y="2381250"/>
            <a:ext cx="2028900" cy="1143075"/>
            <a:chOff x="0" y="0"/>
            <a:chExt cx="2028900" cy="1143075"/>
          </a:xfrm>
        </p:grpSpPr>
        <p:sp>
          <p:nvSpPr>
            <p:cNvPr id="268" name="Google Shape;268;g3d9eec32958_26_146"/>
            <p:cNvSpPr/>
            <p:nvPr/>
          </p:nvSpPr>
          <p:spPr>
            <a:xfrm>
              <a:off x="0" y="0"/>
              <a:ext cx="2028900" cy="11430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g3d9eec32958_26_146"/>
            <p:cNvSpPr/>
            <p:nvPr/>
          </p:nvSpPr>
          <p:spPr>
            <a:xfrm>
              <a:off x="0" y="0"/>
              <a:ext cx="2028900" cy="142800"/>
            </a:xfrm>
            <a:prstGeom prst="rect">
              <a:avLst/>
            </a:prstGeom>
            <a:solidFill>
              <a:srgbClr val="E67E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g3d9eec32958_26_146"/>
            <p:cNvSpPr/>
            <p:nvPr/>
          </p:nvSpPr>
          <p:spPr>
            <a:xfrm>
              <a:off x="0" y="142875"/>
              <a:ext cx="76200" cy="1000200"/>
            </a:xfrm>
            <a:prstGeom prst="rect">
              <a:avLst/>
            </a:prstGeom>
            <a:solidFill>
              <a:srgbClr val="E67E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71" name="Google Shape;271;g3d9eec32958_26_14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14300" y="238125"/>
              <a:ext cx="381000" cy="381000"/>
            </a:xfrm>
            <a:prstGeom prst="roundRect">
              <a:avLst>
                <a:gd fmla="val 10000" name="adj"/>
              </a:avLst>
            </a:prstGeom>
            <a:noFill/>
            <a:ln>
              <a:noFill/>
            </a:ln>
          </p:spPr>
        </p:pic>
        <p:sp>
          <p:nvSpPr>
            <p:cNvPr id="272" name="Google Shape;272;g3d9eec32958_26_146"/>
            <p:cNvSpPr txBox="1"/>
            <p:nvPr/>
          </p:nvSpPr>
          <p:spPr>
            <a:xfrm>
              <a:off x="571500" y="238125"/>
              <a:ext cx="1381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F2D3D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Players</a:t>
              </a:r>
              <a:endParaRPr b="1" sz="1400">
                <a:solidFill>
                  <a:srgbClr val="1F2D3D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73" name="Google Shape;273;g3d9eec32958_26_146"/>
            <p:cNvSpPr txBox="1"/>
            <p:nvPr/>
          </p:nvSpPr>
          <p:spPr>
            <a:xfrm>
              <a:off x="142875" y="666750"/>
              <a:ext cx="18096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5B6570"/>
                  </a:solidFill>
                  <a:latin typeface="Arial"/>
                  <a:ea typeface="Arial"/>
                  <a:cs typeface="Arial"/>
                  <a:sym typeface="Arial"/>
                </a:rPr>
                <a:t>Full roster · filter &amp; search · ggplot2 charts</a:t>
              </a:r>
              <a:endParaRPr b="0" sz="95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4" name="Google Shape;274;g3d9eec32958_26_146"/>
          <p:cNvGrpSpPr/>
          <p:nvPr/>
        </p:nvGrpSpPr>
        <p:grpSpPr>
          <a:xfrm>
            <a:off x="6819900" y="2381250"/>
            <a:ext cx="2028900" cy="1143075"/>
            <a:chOff x="0" y="0"/>
            <a:chExt cx="2028900" cy="1143075"/>
          </a:xfrm>
        </p:grpSpPr>
        <p:sp>
          <p:nvSpPr>
            <p:cNvPr id="275" name="Google Shape;275;g3d9eec32958_26_146"/>
            <p:cNvSpPr/>
            <p:nvPr/>
          </p:nvSpPr>
          <p:spPr>
            <a:xfrm>
              <a:off x="0" y="0"/>
              <a:ext cx="2028900" cy="11430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g3d9eec32958_26_146"/>
            <p:cNvSpPr/>
            <p:nvPr/>
          </p:nvSpPr>
          <p:spPr>
            <a:xfrm>
              <a:off x="0" y="0"/>
              <a:ext cx="2028900" cy="142800"/>
            </a:xfrm>
            <a:prstGeom prst="rect">
              <a:avLst/>
            </a:prstGeom>
            <a:solidFill>
              <a:srgbClr val="5B657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g3d9eec32958_26_146"/>
            <p:cNvSpPr/>
            <p:nvPr/>
          </p:nvSpPr>
          <p:spPr>
            <a:xfrm>
              <a:off x="0" y="142875"/>
              <a:ext cx="76200" cy="1000200"/>
            </a:xfrm>
            <a:prstGeom prst="rect">
              <a:avLst/>
            </a:prstGeom>
            <a:solidFill>
              <a:srgbClr val="5B657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78" name="Google Shape;278;g3d9eec32958_26_146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14300" y="238125"/>
              <a:ext cx="381000" cy="381000"/>
            </a:xfrm>
            <a:prstGeom prst="roundRect">
              <a:avLst>
                <a:gd fmla="val 10000" name="adj"/>
              </a:avLst>
            </a:prstGeom>
            <a:noFill/>
            <a:ln>
              <a:noFill/>
            </a:ln>
          </p:spPr>
        </p:pic>
        <p:sp>
          <p:nvSpPr>
            <p:cNvPr id="279" name="Google Shape;279;g3d9eec32958_26_146"/>
            <p:cNvSpPr txBox="1"/>
            <p:nvPr/>
          </p:nvSpPr>
          <p:spPr>
            <a:xfrm>
              <a:off x="571500" y="238125"/>
              <a:ext cx="1381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F2D3D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About</a:t>
              </a:r>
              <a:endParaRPr b="1" sz="1400">
                <a:solidFill>
                  <a:srgbClr val="1F2D3D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80" name="Google Shape;280;g3d9eec32958_26_146"/>
            <p:cNvSpPr txBox="1"/>
            <p:nvPr/>
          </p:nvSpPr>
          <p:spPr>
            <a:xfrm>
              <a:off x="142875" y="666750"/>
              <a:ext cx="18096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5B6570"/>
                  </a:solidFill>
                  <a:latin typeface="Arial"/>
                  <a:ea typeface="Arial"/>
                  <a:cs typeface="Arial"/>
                  <a:sym typeface="Arial"/>
                </a:rPr>
                <a:t>Team profiles · background · APAN 5310</a:t>
              </a:r>
              <a:endParaRPr b="0" sz="95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1" name="Google Shape;281;g3d9eec32958_26_146"/>
          <p:cNvGrpSpPr/>
          <p:nvPr/>
        </p:nvGrpSpPr>
        <p:grpSpPr>
          <a:xfrm>
            <a:off x="3552825" y="3667125"/>
            <a:ext cx="2028900" cy="1143075"/>
            <a:chOff x="0" y="0"/>
            <a:chExt cx="2028900" cy="1143075"/>
          </a:xfrm>
        </p:grpSpPr>
        <p:sp>
          <p:nvSpPr>
            <p:cNvPr id="282" name="Google Shape;282;g3d9eec32958_26_146"/>
            <p:cNvSpPr/>
            <p:nvPr/>
          </p:nvSpPr>
          <p:spPr>
            <a:xfrm>
              <a:off x="0" y="0"/>
              <a:ext cx="2028900" cy="11430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g3d9eec32958_26_146"/>
            <p:cNvSpPr/>
            <p:nvPr/>
          </p:nvSpPr>
          <p:spPr>
            <a:xfrm>
              <a:off x="0" y="0"/>
              <a:ext cx="2028900" cy="142800"/>
            </a:xfrm>
            <a:prstGeom prst="rect">
              <a:avLst/>
            </a:prstGeom>
            <a:solidFill>
              <a:srgbClr val="0D3B6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g3d9eec32958_26_146"/>
            <p:cNvSpPr/>
            <p:nvPr/>
          </p:nvSpPr>
          <p:spPr>
            <a:xfrm>
              <a:off x="0" y="142875"/>
              <a:ext cx="76200" cy="1000200"/>
            </a:xfrm>
            <a:prstGeom prst="rect">
              <a:avLst/>
            </a:prstGeom>
            <a:solidFill>
              <a:srgbClr val="0D3B6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vector icon of a match ticket with a perforated edge in a flat design style." id="285" name="Google Shape;285;g3d9eec32958_26_146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114300" y="238125"/>
              <a:ext cx="381000" cy="381000"/>
            </a:xfrm>
            <a:prstGeom prst="roundRect">
              <a:avLst>
                <a:gd fmla="val 10000" name="adj"/>
              </a:avLst>
            </a:prstGeom>
            <a:noFill/>
            <a:ln>
              <a:noFill/>
            </a:ln>
          </p:spPr>
        </p:pic>
        <p:sp>
          <p:nvSpPr>
            <p:cNvPr id="286" name="Google Shape;286;g3d9eec32958_26_146"/>
            <p:cNvSpPr txBox="1"/>
            <p:nvPr/>
          </p:nvSpPr>
          <p:spPr>
            <a:xfrm>
              <a:off x="571500" y="238125"/>
              <a:ext cx="1381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F2D3D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Ticketing</a:t>
              </a:r>
              <a:endParaRPr b="1" sz="1400">
                <a:solidFill>
                  <a:srgbClr val="1F2D3D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87" name="Google Shape;287;g3d9eec32958_26_146"/>
            <p:cNvSpPr txBox="1"/>
            <p:nvPr/>
          </p:nvSpPr>
          <p:spPr>
            <a:xfrm>
              <a:off x="142875" y="666750"/>
              <a:ext cx="18096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5B6570"/>
                  </a:solidFill>
                  <a:latin typeface="Arial"/>
                  <a:ea typeface="Arial"/>
                  <a:cs typeface="Arial"/>
                  <a:sym typeface="Arial"/>
                </a:rPr>
                <a:t>Interactive pricing maps · section explorer · FIFA link</a:t>
              </a:r>
              <a:endParaRPr b="0" sz="95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3B66"/>
          </a:solidFill>
          <a:ln cap="flat" cmpd="sng" w="12700">
            <a:solidFill>
              <a:srgbClr val="0D3B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6"/>
          <p:cNvSpPr/>
          <p:nvPr/>
        </p:nvSpPr>
        <p:spPr>
          <a:xfrm>
            <a:off x="0" y="0"/>
            <a:ext cx="182880" cy="914400"/>
          </a:xfrm>
          <a:prstGeom prst="rect">
            <a:avLst/>
          </a:prstGeom>
          <a:solidFill>
            <a:srgbClr val="1A5F9E"/>
          </a:solidFill>
          <a:ln cap="flat" cmpd="sng" w="12700">
            <a:solidFill>
              <a:srgbClr val="1A5F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6"/>
          <p:cNvSpPr/>
          <p:nvPr/>
        </p:nvSpPr>
        <p:spPr>
          <a:xfrm>
            <a:off x="347472" y="0"/>
            <a:ext cx="8503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HOME TAB  ·  HERO BANNER + LIVE COUNTDOWN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6"/>
          <p:cNvSpPr/>
          <p:nvPr/>
        </p:nvSpPr>
        <p:spPr>
          <a:xfrm>
            <a:off x="182880" y="1173480"/>
            <a:ext cx="4251960" cy="3657600"/>
          </a:xfrm>
          <a:prstGeom prst="rect">
            <a:avLst/>
          </a:prstGeom>
          <a:solidFill>
            <a:srgbClr val="0D3B66"/>
          </a:solidFill>
          <a:ln cap="flat" cmpd="sng" w="12700">
            <a:solidFill>
              <a:srgbClr val="0D3B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6"/>
          <p:cNvSpPr/>
          <p:nvPr/>
        </p:nvSpPr>
        <p:spPr>
          <a:xfrm>
            <a:off x="182880" y="1173480"/>
            <a:ext cx="4251960" cy="54864"/>
          </a:xfrm>
          <a:prstGeom prst="rect">
            <a:avLst/>
          </a:prstGeom>
          <a:solidFill>
            <a:srgbClr val="FFD700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6"/>
          <p:cNvSpPr/>
          <p:nvPr/>
        </p:nvSpPr>
        <p:spPr>
          <a:xfrm>
            <a:off x="320040" y="1264920"/>
            <a:ext cx="3977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Countdown to Boston's First Match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6"/>
          <p:cNvSpPr/>
          <p:nvPr/>
        </p:nvSpPr>
        <p:spPr>
          <a:xfrm>
            <a:off x="320040" y="1648968"/>
            <a:ext cx="3977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AFCA"/>
              </a:buClr>
              <a:buSzPts val="950"/>
              <a:buFont typeface="Arial"/>
              <a:buNone/>
            </a:pPr>
            <a:r>
              <a:rPr i="1" lang="en-US" sz="950">
                <a:solidFill>
                  <a:srgbClr val="8AAFCA"/>
                </a:solidFill>
                <a:latin typeface="Arial"/>
                <a:ea typeface="Arial"/>
                <a:cs typeface="Arial"/>
                <a:sym typeface="Arial"/>
              </a:rPr>
              <a:t>Haiti vs Scotland  ·  June 13, 2026  ·  9:00 PM ET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AFCA"/>
              </a:buClr>
              <a:buSzPts val="950"/>
              <a:buFont typeface="Arial"/>
              <a:buNone/>
            </a:pPr>
            <a:r>
              <a:rPr i="1" lang="en-US" sz="950">
                <a:solidFill>
                  <a:srgbClr val="8AAFCA"/>
                </a:solidFill>
                <a:latin typeface="Arial"/>
                <a:ea typeface="Arial"/>
                <a:cs typeface="Arial"/>
                <a:sym typeface="Arial"/>
              </a:rPr>
              <a:t>Gillette Stadium, Foxborough MA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6"/>
          <p:cNvSpPr/>
          <p:nvPr/>
        </p:nvSpPr>
        <p:spPr>
          <a:xfrm>
            <a:off x="320040" y="2234184"/>
            <a:ext cx="868680" cy="868680"/>
          </a:xfrm>
          <a:prstGeom prst="rect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6"/>
          <p:cNvSpPr/>
          <p:nvPr/>
        </p:nvSpPr>
        <p:spPr>
          <a:xfrm>
            <a:off x="320040" y="2270760"/>
            <a:ext cx="868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1" lang="en-US" sz="2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46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6"/>
          <p:cNvSpPr/>
          <p:nvPr/>
        </p:nvSpPr>
        <p:spPr>
          <a:xfrm>
            <a:off x="320040" y="2746248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CCEE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AACCEE"/>
                </a:solidFill>
                <a:latin typeface="Arial"/>
                <a:ea typeface="Arial"/>
                <a:cs typeface="Arial"/>
                <a:sym typeface="Arial"/>
              </a:rPr>
              <a:t>Days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6"/>
          <p:cNvSpPr/>
          <p:nvPr/>
        </p:nvSpPr>
        <p:spPr>
          <a:xfrm>
            <a:off x="1325880" y="2234184"/>
            <a:ext cx="868680" cy="868680"/>
          </a:xfrm>
          <a:prstGeom prst="rect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6"/>
          <p:cNvSpPr/>
          <p:nvPr/>
        </p:nvSpPr>
        <p:spPr>
          <a:xfrm>
            <a:off x="1325880" y="2270760"/>
            <a:ext cx="868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1" lang="en-US" sz="2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00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6"/>
          <p:cNvSpPr/>
          <p:nvPr/>
        </p:nvSpPr>
        <p:spPr>
          <a:xfrm>
            <a:off x="1325880" y="2746248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CCEE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AACCEE"/>
                </a:solidFill>
                <a:latin typeface="Arial"/>
                <a:ea typeface="Arial"/>
                <a:cs typeface="Arial"/>
                <a:sym typeface="Arial"/>
              </a:rPr>
              <a:t>Hours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6"/>
          <p:cNvSpPr/>
          <p:nvPr/>
        </p:nvSpPr>
        <p:spPr>
          <a:xfrm>
            <a:off x="2331720" y="2234184"/>
            <a:ext cx="868680" cy="868680"/>
          </a:xfrm>
          <a:prstGeom prst="rect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6"/>
          <p:cNvSpPr/>
          <p:nvPr/>
        </p:nvSpPr>
        <p:spPr>
          <a:xfrm>
            <a:off x="2331720" y="2270760"/>
            <a:ext cx="868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 Black"/>
              <a:buNone/>
            </a:pPr>
            <a:r>
              <a:rPr b="1" lang="en-US" sz="2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00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6"/>
          <p:cNvSpPr/>
          <p:nvPr/>
        </p:nvSpPr>
        <p:spPr>
          <a:xfrm>
            <a:off x="2331720" y="2746248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CCEE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AACCEE"/>
                </a:solidFill>
                <a:latin typeface="Arial"/>
                <a:ea typeface="Arial"/>
                <a:cs typeface="Arial"/>
                <a:sym typeface="Arial"/>
              </a:rPr>
              <a:t>Mins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6"/>
          <p:cNvSpPr/>
          <p:nvPr/>
        </p:nvSpPr>
        <p:spPr>
          <a:xfrm>
            <a:off x="3337560" y="2234184"/>
            <a:ext cx="868680" cy="868680"/>
          </a:xfrm>
          <a:prstGeom prst="rect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6"/>
          <p:cNvSpPr/>
          <p:nvPr/>
        </p:nvSpPr>
        <p:spPr>
          <a:xfrm>
            <a:off x="3337560" y="2270760"/>
            <a:ext cx="868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 Black"/>
              <a:buNone/>
            </a:pPr>
            <a:r>
              <a:rPr b="1" lang="en-US" sz="2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00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6"/>
          <p:cNvSpPr/>
          <p:nvPr/>
        </p:nvSpPr>
        <p:spPr>
          <a:xfrm>
            <a:off x="3337560" y="2746248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CCEE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AACCEE"/>
                </a:solidFill>
                <a:latin typeface="Arial"/>
                <a:ea typeface="Arial"/>
                <a:cs typeface="Arial"/>
                <a:sym typeface="Arial"/>
              </a:rPr>
              <a:t>Secs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6"/>
          <p:cNvSpPr/>
          <p:nvPr/>
        </p:nvSpPr>
        <p:spPr>
          <a:xfrm>
            <a:off x="320040" y="3230880"/>
            <a:ext cx="3977640" cy="457200"/>
          </a:xfrm>
          <a:prstGeom prst="rect">
            <a:avLst/>
          </a:prstGeom>
          <a:solidFill>
            <a:srgbClr val="1A5F9E"/>
          </a:solidFill>
          <a:ln cap="flat" cmpd="sng" w="12700">
            <a:solidFill>
              <a:srgbClr val="1A5F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6"/>
          <p:cNvSpPr/>
          <p:nvPr/>
        </p:nvSpPr>
        <p:spPr>
          <a:xfrm>
            <a:off x="320040" y="3249168"/>
            <a:ext cx="39776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800"/>
              <a:buFont typeface="Arial"/>
              <a:buNone/>
            </a:pPr>
            <a:r>
              <a:rPr i="1" lang="en-US" sz="800">
                <a:solidFill>
                  <a:srgbClr val="FFD700"/>
                </a:solidFill>
                <a:latin typeface="Arial"/>
                <a:ea typeface="Arial"/>
                <a:cs typeface="Arial"/>
                <a:sym typeface="Arial"/>
              </a:rPr>
              <a:t>invalidateLater(1000, session) → reactive countdown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800"/>
              <a:buFont typeface="Arial"/>
              <a:buNone/>
            </a:pPr>
            <a:r>
              <a:rPr i="1" lang="en-US" sz="800">
                <a:solidFill>
                  <a:srgbClr val="FFD700"/>
                </a:solidFill>
                <a:latin typeface="Arial"/>
                <a:ea typeface="Arial"/>
                <a:cs typeface="Arial"/>
                <a:sym typeface="Arial"/>
              </a:rPr>
              <a:t>updates Days / Hours / Minutes / Seconds every second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6"/>
          <p:cNvSpPr/>
          <p:nvPr/>
        </p:nvSpPr>
        <p:spPr>
          <a:xfrm>
            <a:off x="4617720" y="1173480"/>
            <a:ext cx="4069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3D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1F2D3D"/>
                </a:solidFill>
                <a:latin typeface="Arial Black"/>
                <a:ea typeface="Arial Black"/>
                <a:cs typeface="Arial Black"/>
                <a:sym typeface="Arial Black"/>
              </a:rPr>
              <a:t>Group Stage Matches — Boston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6"/>
          <p:cNvSpPr/>
          <p:nvPr/>
        </p:nvSpPr>
        <p:spPr>
          <a:xfrm>
            <a:off x="4617720" y="1612392"/>
            <a:ext cx="406908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162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6"/>
          <p:cNvSpPr/>
          <p:nvPr/>
        </p:nvSpPr>
        <p:spPr>
          <a:xfrm>
            <a:off x="4617720" y="1612392"/>
            <a:ext cx="109728" cy="566928"/>
          </a:xfrm>
          <a:prstGeom prst="rect">
            <a:avLst/>
          </a:prstGeom>
          <a:solidFill>
            <a:srgbClr val="0D3B66"/>
          </a:solidFill>
          <a:ln cap="flat" cmpd="sng" w="12700">
            <a:solidFill>
              <a:srgbClr val="0D3B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6"/>
          <p:cNvSpPr/>
          <p:nvPr/>
        </p:nvSpPr>
        <p:spPr>
          <a:xfrm>
            <a:off x="4782312" y="1667256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3D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Haiti vs Scotland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6"/>
          <p:cNvSpPr/>
          <p:nvPr/>
        </p:nvSpPr>
        <p:spPr>
          <a:xfrm>
            <a:off x="4782312" y="1923288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Gillette Stadium · Jun 13, 2026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6"/>
          <p:cNvSpPr/>
          <p:nvPr/>
        </p:nvSpPr>
        <p:spPr>
          <a:xfrm>
            <a:off x="7818120" y="1740408"/>
            <a:ext cx="758952" cy="274320"/>
          </a:xfrm>
          <a:prstGeom prst="rect">
            <a:avLst/>
          </a:prstGeom>
          <a:solidFill>
            <a:srgbClr val="E8F0FB"/>
          </a:solidFill>
          <a:ln cap="flat" cmpd="sng" w="12700">
            <a:solidFill>
              <a:srgbClr val="CAD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6"/>
          <p:cNvSpPr/>
          <p:nvPr/>
        </p:nvSpPr>
        <p:spPr>
          <a:xfrm>
            <a:off x="7818120" y="1740408"/>
            <a:ext cx="7589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3B66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0D3B66"/>
                </a:solidFill>
                <a:latin typeface="Arial"/>
                <a:ea typeface="Arial"/>
                <a:cs typeface="Arial"/>
                <a:sym typeface="Arial"/>
              </a:rPr>
              <a:t>Group H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6"/>
          <p:cNvSpPr/>
          <p:nvPr/>
        </p:nvSpPr>
        <p:spPr>
          <a:xfrm>
            <a:off x="4617720" y="2243328"/>
            <a:ext cx="406908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162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6"/>
          <p:cNvSpPr/>
          <p:nvPr/>
        </p:nvSpPr>
        <p:spPr>
          <a:xfrm>
            <a:off x="4617720" y="2243328"/>
            <a:ext cx="109728" cy="566928"/>
          </a:xfrm>
          <a:prstGeom prst="rect">
            <a:avLst/>
          </a:prstGeom>
          <a:solidFill>
            <a:srgbClr val="0D3B66"/>
          </a:solidFill>
          <a:ln cap="flat" cmpd="sng" w="12700">
            <a:solidFill>
              <a:srgbClr val="0D3B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6"/>
          <p:cNvSpPr/>
          <p:nvPr/>
        </p:nvSpPr>
        <p:spPr>
          <a:xfrm>
            <a:off x="4782312" y="2298192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3D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France vs Morocco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6"/>
          <p:cNvSpPr/>
          <p:nvPr/>
        </p:nvSpPr>
        <p:spPr>
          <a:xfrm>
            <a:off x="4782312" y="2554224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Gillette Stadium · Jun 16, 2026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6"/>
          <p:cNvSpPr/>
          <p:nvPr/>
        </p:nvSpPr>
        <p:spPr>
          <a:xfrm>
            <a:off x="7818120" y="2371344"/>
            <a:ext cx="758952" cy="274320"/>
          </a:xfrm>
          <a:prstGeom prst="rect">
            <a:avLst/>
          </a:prstGeom>
          <a:solidFill>
            <a:srgbClr val="E8F0FB"/>
          </a:solidFill>
          <a:ln cap="flat" cmpd="sng" w="12700">
            <a:solidFill>
              <a:srgbClr val="CAD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6"/>
          <p:cNvSpPr/>
          <p:nvPr/>
        </p:nvSpPr>
        <p:spPr>
          <a:xfrm>
            <a:off x="7818120" y="2371344"/>
            <a:ext cx="7589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3B66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0D3B66"/>
                </a:solidFill>
                <a:latin typeface="Arial"/>
                <a:ea typeface="Arial"/>
                <a:cs typeface="Arial"/>
                <a:sym typeface="Arial"/>
              </a:rPr>
              <a:t>Group 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6"/>
          <p:cNvSpPr/>
          <p:nvPr/>
        </p:nvSpPr>
        <p:spPr>
          <a:xfrm>
            <a:off x="4617720" y="2874264"/>
            <a:ext cx="406908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162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6"/>
          <p:cNvSpPr/>
          <p:nvPr/>
        </p:nvSpPr>
        <p:spPr>
          <a:xfrm>
            <a:off x="4617720" y="2874264"/>
            <a:ext cx="109728" cy="566928"/>
          </a:xfrm>
          <a:prstGeom prst="rect">
            <a:avLst/>
          </a:prstGeom>
          <a:solidFill>
            <a:srgbClr val="0D3B66"/>
          </a:solidFill>
          <a:ln cap="flat" cmpd="sng" w="12700">
            <a:solidFill>
              <a:srgbClr val="0D3B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6"/>
          <p:cNvSpPr/>
          <p:nvPr/>
        </p:nvSpPr>
        <p:spPr>
          <a:xfrm>
            <a:off x="4782312" y="292912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3D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Scotland vs Iraq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6"/>
          <p:cNvSpPr/>
          <p:nvPr/>
        </p:nvSpPr>
        <p:spPr>
          <a:xfrm>
            <a:off x="4782312" y="3185160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Gillette Stadium · Jun 20, 2026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6"/>
          <p:cNvSpPr/>
          <p:nvPr/>
        </p:nvSpPr>
        <p:spPr>
          <a:xfrm>
            <a:off x="7818120" y="3002280"/>
            <a:ext cx="758952" cy="274320"/>
          </a:xfrm>
          <a:prstGeom prst="rect">
            <a:avLst/>
          </a:prstGeom>
          <a:solidFill>
            <a:srgbClr val="E8F0FB"/>
          </a:solidFill>
          <a:ln cap="flat" cmpd="sng" w="12700">
            <a:solidFill>
              <a:srgbClr val="CAD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6"/>
          <p:cNvSpPr/>
          <p:nvPr/>
        </p:nvSpPr>
        <p:spPr>
          <a:xfrm>
            <a:off x="7818120" y="3002280"/>
            <a:ext cx="7589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3B66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0D3B66"/>
                </a:solidFill>
                <a:latin typeface="Arial"/>
                <a:ea typeface="Arial"/>
                <a:cs typeface="Arial"/>
                <a:sym typeface="Arial"/>
              </a:rPr>
              <a:t>Group H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6"/>
          <p:cNvSpPr/>
          <p:nvPr/>
        </p:nvSpPr>
        <p:spPr>
          <a:xfrm>
            <a:off x="4617720" y="3505200"/>
            <a:ext cx="406908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162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6"/>
          <p:cNvSpPr/>
          <p:nvPr/>
        </p:nvSpPr>
        <p:spPr>
          <a:xfrm>
            <a:off x="4617720" y="3505200"/>
            <a:ext cx="109728" cy="566928"/>
          </a:xfrm>
          <a:prstGeom prst="rect">
            <a:avLst/>
          </a:prstGeom>
          <a:solidFill>
            <a:srgbClr val="0D3B66"/>
          </a:solidFill>
          <a:ln cap="flat" cmpd="sng" w="12700">
            <a:solidFill>
              <a:srgbClr val="0D3B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6"/>
          <p:cNvSpPr/>
          <p:nvPr/>
        </p:nvSpPr>
        <p:spPr>
          <a:xfrm>
            <a:off x="4782312" y="3560064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3D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Norway vs England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6"/>
          <p:cNvSpPr/>
          <p:nvPr/>
        </p:nvSpPr>
        <p:spPr>
          <a:xfrm>
            <a:off x="4782312" y="3816096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Gillette Stadium · Jun 23, 2026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6"/>
          <p:cNvSpPr/>
          <p:nvPr/>
        </p:nvSpPr>
        <p:spPr>
          <a:xfrm>
            <a:off x="7818120" y="3633216"/>
            <a:ext cx="758952" cy="274320"/>
          </a:xfrm>
          <a:prstGeom prst="rect">
            <a:avLst/>
          </a:prstGeom>
          <a:solidFill>
            <a:srgbClr val="E8F0FB"/>
          </a:solidFill>
          <a:ln cap="flat" cmpd="sng" w="12700">
            <a:solidFill>
              <a:srgbClr val="CAD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6"/>
          <p:cNvSpPr/>
          <p:nvPr/>
        </p:nvSpPr>
        <p:spPr>
          <a:xfrm>
            <a:off x="7818120" y="3633216"/>
            <a:ext cx="7589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3B66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0D3B66"/>
                </a:solidFill>
                <a:latin typeface="Arial"/>
                <a:ea typeface="Arial"/>
                <a:cs typeface="Arial"/>
                <a:sym typeface="Arial"/>
              </a:rPr>
              <a:t>Group F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6"/>
          <p:cNvSpPr/>
          <p:nvPr/>
        </p:nvSpPr>
        <p:spPr>
          <a:xfrm>
            <a:off x="4617720" y="4136136"/>
            <a:ext cx="406908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162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6"/>
          <p:cNvSpPr/>
          <p:nvPr/>
        </p:nvSpPr>
        <p:spPr>
          <a:xfrm>
            <a:off x="4617720" y="4136136"/>
            <a:ext cx="109728" cy="566928"/>
          </a:xfrm>
          <a:prstGeom prst="rect">
            <a:avLst/>
          </a:prstGeom>
          <a:solidFill>
            <a:srgbClr val="0D3B66"/>
          </a:solidFill>
          <a:ln cap="flat" cmpd="sng" w="12700">
            <a:solidFill>
              <a:srgbClr val="0D3B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6"/>
          <p:cNvSpPr/>
          <p:nvPr/>
        </p:nvSpPr>
        <p:spPr>
          <a:xfrm>
            <a:off x="4782312" y="419100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3D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Morocco vs Haiti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6"/>
          <p:cNvSpPr/>
          <p:nvPr/>
        </p:nvSpPr>
        <p:spPr>
          <a:xfrm>
            <a:off x="4782312" y="4447032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Gillette Stadium · Jun 26, 2026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6"/>
          <p:cNvSpPr/>
          <p:nvPr/>
        </p:nvSpPr>
        <p:spPr>
          <a:xfrm>
            <a:off x="7818120" y="4264152"/>
            <a:ext cx="758952" cy="274320"/>
          </a:xfrm>
          <a:prstGeom prst="rect">
            <a:avLst/>
          </a:prstGeom>
          <a:solidFill>
            <a:srgbClr val="E8F0FB"/>
          </a:solidFill>
          <a:ln cap="flat" cmpd="sng" w="12700">
            <a:solidFill>
              <a:srgbClr val="CAD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6"/>
          <p:cNvSpPr/>
          <p:nvPr/>
        </p:nvSpPr>
        <p:spPr>
          <a:xfrm>
            <a:off x="7818120" y="4264152"/>
            <a:ext cx="7589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3B66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0D3B66"/>
                </a:solidFill>
                <a:latin typeface="Arial"/>
                <a:ea typeface="Arial"/>
                <a:cs typeface="Arial"/>
                <a:sym typeface="Arial"/>
              </a:rPr>
              <a:t>Group 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d9eec32958_26_3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g3d9eec32958_26_3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g3d9eec32958_26_37"/>
          <p:cNvSpPr/>
          <p:nvPr/>
        </p:nvSpPr>
        <p:spPr>
          <a:xfrm>
            <a:off x="0" y="0"/>
            <a:ext cx="183000" cy="9144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g3d9eec32958_26_37"/>
          <p:cNvSpPr txBox="1"/>
          <p:nvPr/>
        </p:nvSpPr>
        <p:spPr>
          <a:xfrm>
            <a:off x="347663" y="0"/>
            <a:ext cx="8503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TICKETING TAB · OFFICIAL FIFA WORLD CUP 2026 CATEGORIES</a:t>
            </a:r>
            <a:endParaRPr b="1" sz="14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52" name="Google Shape;352;g3d9eec32958_26_37"/>
          <p:cNvSpPr/>
          <p:nvPr/>
        </p:nvSpPr>
        <p:spPr>
          <a:xfrm>
            <a:off x="320040" y="1005840"/>
            <a:ext cx="8503800" cy="57150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1237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g3d9eec32958_26_37"/>
          <p:cNvSpPr txBox="1"/>
          <p:nvPr/>
        </p:nvSpPr>
        <p:spPr>
          <a:xfrm>
            <a:off x="510540" y="1028690"/>
            <a:ext cx="8122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D3B66"/>
                </a:solidFill>
                <a:latin typeface="Arial"/>
                <a:ea typeface="Arial"/>
                <a:cs typeface="Arial"/>
                <a:sym typeface="Arial"/>
              </a:rPr>
              <a:t>Select Match Round: </a:t>
            </a:r>
            <a:r>
              <a:rPr b="0" lang="en-US" sz="90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Group Stage</a:t>
            </a:r>
            <a:endParaRPr b="1" sz="900">
              <a:solidFill>
                <a:srgbClr val="0D3B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Haiti vs Scotland · Iraq vs Norway · Scotland vs Morocco · England vs Ghana · Norway vs France</a:t>
            </a:r>
            <a:endParaRPr sz="850">
              <a:solidFill>
                <a:srgbClr val="5B65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4" name="Google Shape;354;g3d9eec32958_26_37"/>
          <p:cNvGrpSpPr/>
          <p:nvPr/>
        </p:nvGrpSpPr>
        <p:grpSpPr>
          <a:xfrm>
            <a:off x="320040" y="1714500"/>
            <a:ext cx="1571700" cy="2000100"/>
            <a:chOff x="320040" y="1714500"/>
            <a:chExt cx="1571700" cy="2000100"/>
          </a:xfrm>
        </p:grpSpPr>
        <p:sp>
          <p:nvSpPr>
            <p:cNvPr id="355" name="Google Shape;355;g3d9eec32958_26_37"/>
            <p:cNvSpPr/>
            <p:nvPr/>
          </p:nvSpPr>
          <p:spPr>
            <a:xfrm>
              <a:off x="320040" y="1714500"/>
              <a:ext cx="1571700" cy="2000100"/>
            </a:xfrm>
            <a:prstGeom prst="roundRect">
              <a:avLst>
                <a:gd fmla="val 6060" name="adj"/>
              </a:avLst>
            </a:prstGeom>
            <a:solidFill>
              <a:srgbClr val="FFFFFF"/>
            </a:solidFill>
            <a:ln cap="flat" cmpd="sng" w="1237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g3d9eec32958_26_37"/>
            <p:cNvSpPr/>
            <p:nvPr/>
          </p:nvSpPr>
          <p:spPr>
            <a:xfrm>
              <a:off x="320040" y="1714500"/>
              <a:ext cx="1571700" cy="47700"/>
            </a:xfrm>
            <a:prstGeom prst="rect">
              <a:avLst/>
            </a:prstGeom>
            <a:solidFill>
              <a:srgbClr val="0D3B6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g3d9eec32958_26_37"/>
            <p:cNvSpPr txBox="1"/>
            <p:nvPr/>
          </p:nvSpPr>
          <p:spPr>
            <a:xfrm>
              <a:off x="415290" y="1857375"/>
              <a:ext cx="13812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D3B66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Cat 1</a:t>
              </a:r>
              <a:endParaRPr b="1" sz="1200">
                <a:solidFill>
                  <a:srgbClr val="0D3B66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5B6570"/>
                  </a:solidFill>
                  <a:latin typeface="Arial"/>
                  <a:ea typeface="Arial"/>
                  <a:cs typeface="Arial"/>
                  <a:sym typeface="Arial"/>
                </a:rPr>
                <a:t>Prime seating along the sidelines</a:t>
              </a:r>
              <a:endParaRPr sz="90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700">
                  <a:solidFill>
                    <a:srgbClr val="5B6570"/>
                  </a:solidFill>
                  <a:latin typeface="Arial"/>
                  <a:ea typeface="Arial"/>
                  <a:cs typeface="Arial"/>
                  <a:sym typeface="Arial"/>
                </a:rPr>
                <a:t>Est. price range</a:t>
              </a:r>
              <a:endParaRPr sz="70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D3B66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$250 – $450</a:t>
              </a:r>
              <a:endParaRPr b="1" sz="1300">
                <a:solidFill>
                  <a:srgbClr val="0D3B66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5B6570"/>
                  </a:solidFill>
                  <a:latin typeface="Arial"/>
                  <a:ea typeface="Arial"/>
                  <a:cs typeface="Arial"/>
                  <a:sym typeface="Arial"/>
                </a:rPr>
                <a:t>Avail: ~1,200</a:t>
              </a:r>
              <a:endParaRPr sz="80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8" name="Google Shape;358;g3d9eec32958_26_37"/>
          <p:cNvGrpSpPr/>
          <p:nvPr/>
        </p:nvGrpSpPr>
        <p:grpSpPr>
          <a:xfrm>
            <a:off x="2053590" y="1714500"/>
            <a:ext cx="1571700" cy="2000100"/>
            <a:chOff x="2053590" y="1714500"/>
            <a:chExt cx="1571700" cy="2000100"/>
          </a:xfrm>
        </p:grpSpPr>
        <p:sp>
          <p:nvSpPr>
            <p:cNvPr id="359" name="Google Shape;359;g3d9eec32958_26_37"/>
            <p:cNvSpPr/>
            <p:nvPr/>
          </p:nvSpPr>
          <p:spPr>
            <a:xfrm>
              <a:off x="2053590" y="1714500"/>
              <a:ext cx="1571700" cy="2000100"/>
            </a:xfrm>
            <a:prstGeom prst="roundRect">
              <a:avLst>
                <a:gd fmla="val 6060" name="adj"/>
              </a:avLst>
            </a:prstGeom>
            <a:solidFill>
              <a:srgbClr val="FFFFFF"/>
            </a:solidFill>
            <a:ln cap="flat" cmpd="sng" w="1237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g3d9eec32958_26_37"/>
            <p:cNvSpPr/>
            <p:nvPr/>
          </p:nvSpPr>
          <p:spPr>
            <a:xfrm>
              <a:off x="2053590" y="1714500"/>
              <a:ext cx="1571700" cy="47700"/>
            </a:xfrm>
            <a:prstGeom prst="rect">
              <a:avLst/>
            </a:prstGeom>
            <a:solidFill>
              <a:srgbClr val="1A5F9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g3d9eec32958_26_37"/>
            <p:cNvSpPr txBox="1"/>
            <p:nvPr/>
          </p:nvSpPr>
          <p:spPr>
            <a:xfrm>
              <a:off x="2148840" y="1857375"/>
              <a:ext cx="13812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A5F9E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Cat 2</a:t>
              </a:r>
              <a:endParaRPr b="1" sz="1200">
                <a:solidFill>
                  <a:srgbClr val="1A5F9E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5B6570"/>
                  </a:solidFill>
                  <a:latin typeface="Arial"/>
                  <a:ea typeface="Arial"/>
                  <a:cs typeface="Arial"/>
                  <a:sym typeface="Arial"/>
                </a:rPr>
                <a:t>Excellent views from corners/lower ends</a:t>
              </a:r>
              <a:endParaRPr sz="90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700">
                  <a:solidFill>
                    <a:srgbClr val="5B6570"/>
                  </a:solidFill>
                  <a:latin typeface="Arial"/>
                  <a:ea typeface="Arial"/>
                  <a:cs typeface="Arial"/>
                  <a:sym typeface="Arial"/>
                </a:rPr>
                <a:t>Est. price range</a:t>
              </a:r>
              <a:endParaRPr sz="70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A5F9E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$180 – $320</a:t>
              </a:r>
              <a:endParaRPr b="1" sz="1300">
                <a:solidFill>
                  <a:srgbClr val="1A5F9E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5B6570"/>
                  </a:solidFill>
                  <a:latin typeface="Arial"/>
                  <a:ea typeface="Arial"/>
                  <a:cs typeface="Arial"/>
                  <a:sym typeface="Arial"/>
                </a:rPr>
                <a:t>Avail: ~2,500</a:t>
              </a:r>
              <a:endParaRPr sz="80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2" name="Google Shape;362;g3d9eec32958_26_37"/>
          <p:cNvGrpSpPr/>
          <p:nvPr/>
        </p:nvGrpSpPr>
        <p:grpSpPr>
          <a:xfrm>
            <a:off x="3787140" y="1571625"/>
            <a:ext cx="1571700" cy="2142975"/>
            <a:chOff x="3787140" y="1571625"/>
            <a:chExt cx="1571700" cy="2142975"/>
          </a:xfrm>
        </p:grpSpPr>
        <p:sp>
          <p:nvSpPr>
            <p:cNvPr id="363" name="Google Shape;363;g3d9eec32958_26_37"/>
            <p:cNvSpPr/>
            <p:nvPr/>
          </p:nvSpPr>
          <p:spPr>
            <a:xfrm>
              <a:off x="3787140" y="1714500"/>
              <a:ext cx="1571700" cy="2000100"/>
            </a:xfrm>
            <a:prstGeom prst="roundRect">
              <a:avLst>
                <a:gd fmla="val 6060" name="adj"/>
              </a:avLst>
            </a:prstGeom>
            <a:solidFill>
              <a:srgbClr val="FFFFFF"/>
            </a:solidFill>
            <a:ln cap="flat" cmpd="sng" w="1237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g3d9eec32958_26_37"/>
            <p:cNvSpPr/>
            <p:nvPr/>
          </p:nvSpPr>
          <p:spPr>
            <a:xfrm>
              <a:off x="3787140" y="1714500"/>
              <a:ext cx="1571700" cy="47700"/>
            </a:xfrm>
            <a:prstGeom prst="rect">
              <a:avLst/>
            </a:prstGeom>
            <a:solidFill>
              <a:srgbClr val="2D6A4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g3d9eec32958_26_37"/>
            <p:cNvSpPr/>
            <p:nvPr/>
          </p:nvSpPr>
          <p:spPr>
            <a:xfrm>
              <a:off x="4096703" y="1571625"/>
              <a:ext cx="952500" cy="171600"/>
            </a:xfrm>
            <a:prstGeom prst="roundRect">
              <a:avLst>
                <a:gd fmla="val 50000" name="adj"/>
              </a:avLst>
            </a:prstGeom>
            <a:solidFill>
              <a:srgbClr val="2D6A4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g3d9eec32958_26_37"/>
            <p:cNvSpPr txBox="1"/>
            <p:nvPr/>
          </p:nvSpPr>
          <p:spPr>
            <a:xfrm>
              <a:off x="4096703" y="1571625"/>
              <a:ext cx="9525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700">
                  <a:solidFill>
                    <a:srgbClr val="FFFFFF"/>
                  </a:solidFill>
                </a:rPr>
                <a:t>BEST VALUE</a:t>
              </a:r>
              <a:endParaRPr b="1" sz="700">
                <a:solidFill>
                  <a:srgbClr val="FFFFFF"/>
                </a:solidFill>
              </a:endParaRPr>
            </a:p>
          </p:txBody>
        </p:sp>
        <p:sp>
          <p:nvSpPr>
            <p:cNvPr id="367" name="Google Shape;367;g3d9eec32958_26_37"/>
            <p:cNvSpPr txBox="1"/>
            <p:nvPr/>
          </p:nvSpPr>
          <p:spPr>
            <a:xfrm>
              <a:off x="3882390" y="1857375"/>
              <a:ext cx="13812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2D6A4F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Cat 3</a:t>
              </a:r>
              <a:endParaRPr b="1" sz="1200">
                <a:solidFill>
                  <a:srgbClr val="2D6A4F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5B6570"/>
                  </a:solidFill>
                  <a:latin typeface="Arial"/>
                  <a:ea typeface="Arial"/>
                  <a:cs typeface="Arial"/>
                  <a:sym typeface="Arial"/>
                </a:rPr>
                <a:t>Standard seating in the upper tiers</a:t>
              </a:r>
              <a:endParaRPr sz="90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700">
                  <a:solidFill>
                    <a:srgbClr val="5B6570"/>
                  </a:solidFill>
                  <a:latin typeface="Arial"/>
                  <a:ea typeface="Arial"/>
                  <a:cs typeface="Arial"/>
                  <a:sym typeface="Arial"/>
                </a:rPr>
                <a:t>Est. price range</a:t>
              </a:r>
              <a:endParaRPr sz="70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2D6A4F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$95 – $175</a:t>
              </a:r>
              <a:endParaRPr b="1" sz="1300">
                <a:solidFill>
                  <a:srgbClr val="2D6A4F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5B6570"/>
                  </a:solidFill>
                  <a:latin typeface="Arial"/>
                  <a:ea typeface="Arial"/>
                  <a:cs typeface="Arial"/>
                  <a:sym typeface="Arial"/>
                </a:rPr>
                <a:t>Avail: ~4,800</a:t>
              </a:r>
              <a:endParaRPr sz="80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8" name="Google Shape;368;g3d9eec32958_26_37"/>
          <p:cNvGrpSpPr/>
          <p:nvPr/>
        </p:nvGrpSpPr>
        <p:grpSpPr>
          <a:xfrm>
            <a:off x="5520690" y="1714500"/>
            <a:ext cx="1571700" cy="2000100"/>
            <a:chOff x="5520690" y="1714500"/>
            <a:chExt cx="1571700" cy="2000100"/>
          </a:xfrm>
        </p:grpSpPr>
        <p:sp>
          <p:nvSpPr>
            <p:cNvPr id="369" name="Google Shape;369;g3d9eec32958_26_37"/>
            <p:cNvSpPr/>
            <p:nvPr/>
          </p:nvSpPr>
          <p:spPr>
            <a:xfrm>
              <a:off x="5520690" y="1714500"/>
              <a:ext cx="1571700" cy="2000100"/>
            </a:xfrm>
            <a:prstGeom prst="roundRect">
              <a:avLst>
                <a:gd fmla="val 6060" name="adj"/>
              </a:avLst>
            </a:prstGeom>
            <a:solidFill>
              <a:srgbClr val="FFFFFF"/>
            </a:solidFill>
            <a:ln cap="flat" cmpd="sng" w="1237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g3d9eec32958_26_37"/>
            <p:cNvSpPr/>
            <p:nvPr/>
          </p:nvSpPr>
          <p:spPr>
            <a:xfrm>
              <a:off x="5520690" y="1714500"/>
              <a:ext cx="1571700" cy="47700"/>
            </a:xfrm>
            <a:prstGeom prst="rect">
              <a:avLst/>
            </a:prstGeom>
            <a:solidFill>
              <a:srgbClr val="E67E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g3d9eec32958_26_37"/>
            <p:cNvSpPr txBox="1"/>
            <p:nvPr/>
          </p:nvSpPr>
          <p:spPr>
            <a:xfrm>
              <a:off x="5615940" y="1857375"/>
              <a:ext cx="13812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E67E22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Cat 4</a:t>
              </a:r>
              <a:endParaRPr b="1" sz="1200">
                <a:solidFill>
                  <a:srgbClr val="E67E22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5B6570"/>
                  </a:solidFill>
                  <a:latin typeface="Arial"/>
                  <a:ea typeface="Arial"/>
                  <a:cs typeface="Arial"/>
                  <a:sym typeface="Arial"/>
                </a:rPr>
                <a:t>Budget-friendly goalside seating</a:t>
              </a:r>
              <a:endParaRPr sz="90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700">
                  <a:solidFill>
                    <a:srgbClr val="5B6570"/>
                  </a:solidFill>
                  <a:latin typeface="Arial"/>
                  <a:ea typeface="Arial"/>
                  <a:cs typeface="Arial"/>
                  <a:sym typeface="Arial"/>
                </a:rPr>
                <a:t>Est. price range</a:t>
              </a:r>
              <a:endParaRPr sz="70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E67E22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$55 – $110</a:t>
              </a:r>
              <a:endParaRPr b="1" sz="1300">
                <a:solidFill>
                  <a:srgbClr val="E67E22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5B6570"/>
                  </a:solidFill>
                  <a:latin typeface="Arial"/>
                  <a:ea typeface="Arial"/>
                  <a:cs typeface="Arial"/>
                  <a:sym typeface="Arial"/>
                </a:rPr>
                <a:t>Avail: ~3,100</a:t>
              </a:r>
              <a:endParaRPr sz="80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2" name="Google Shape;372;g3d9eec32958_26_37"/>
          <p:cNvGrpSpPr/>
          <p:nvPr/>
        </p:nvGrpSpPr>
        <p:grpSpPr>
          <a:xfrm>
            <a:off x="7254240" y="1714500"/>
            <a:ext cx="1571700" cy="2000100"/>
            <a:chOff x="7254240" y="1714500"/>
            <a:chExt cx="1571700" cy="2000100"/>
          </a:xfrm>
        </p:grpSpPr>
        <p:sp>
          <p:nvSpPr>
            <p:cNvPr id="373" name="Google Shape;373;g3d9eec32958_26_37"/>
            <p:cNvSpPr/>
            <p:nvPr/>
          </p:nvSpPr>
          <p:spPr>
            <a:xfrm>
              <a:off x="7254240" y="1714500"/>
              <a:ext cx="1571700" cy="2000100"/>
            </a:xfrm>
            <a:prstGeom prst="roundRect">
              <a:avLst>
                <a:gd fmla="val 6060" name="adj"/>
              </a:avLst>
            </a:prstGeom>
            <a:solidFill>
              <a:srgbClr val="FFFFFF"/>
            </a:solidFill>
            <a:ln cap="flat" cmpd="sng" w="1237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g3d9eec32958_26_37"/>
            <p:cNvSpPr/>
            <p:nvPr/>
          </p:nvSpPr>
          <p:spPr>
            <a:xfrm>
              <a:off x="7254240" y="1714500"/>
              <a:ext cx="1571700" cy="47700"/>
            </a:xfrm>
            <a:prstGeom prst="rect">
              <a:avLst/>
            </a:prstGeom>
            <a:solidFill>
              <a:srgbClr val="7B2D8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g3d9eec32958_26_37"/>
            <p:cNvSpPr txBox="1"/>
            <p:nvPr/>
          </p:nvSpPr>
          <p:spPr>
            <a:xfrm>
              <a:off x="7349490" y="1857375"/>
              <a:ext cx="13812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7B2D8B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Access</a:t>
              </a:r>
              <a:endParaRPr b="1" sz="1200">
                <a:solidFill>
                  <a:srgbClr val="7B2D8B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5B6570"/>
                  </a:solidFill>
                  <a:latin typeface="Arial"/>
                  <a:ea typeface="Arial"/>
                  <a:cs typeface="Arial"/>
                  <a:sym typeface="Arial"/>
                </a:rPr>
                <a:t>Dedicated accessibility platforms</a:t>
              </a:r>
              <a:endParaRPr sz="90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700">
                  <a:solidFill>
                    <a:srgbClr val="5B6570"/>
                  </a:solidFill>
                  <a:latin typeface="Arial"/>
                  <a:ea typeface="Arial"/>
                  <a:cs typeface="Arial"/>
                  <a:sym typeface="Arial"/>
                </a:rPr>
                <a:t>Est. price range</a:t>
              </a:r>
              <a:endParaRPr sz="70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7B2D8B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$55 – $95</a:t>
              </a:r>
              <a:endParaRPr b="1" sz="1300">
                <a:solidFill>
                  <a:srgbClr val="7B2D8B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5B6570"/>
                  </a:solidFill>
                  <a:latin typeface="Arial"/>
                  <a:ea typeface="Arial"/>
                  <a:cs typeface="Arial"/>
                  <a:sym typeface="Arial"/>
                </a:rPr>
                <a:t>Avail: ~450</a:t>
              </a:r>
              <a:endParaRPr sz="80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6" name="Google Shape;376;g3d9eec32958_26_37"/>
          <p:cNvSpPr/>
          <p:nvPr/>
        </p:nvSpPr>
        <p:spPr>
          <a:xfrm>
            <a:off x="3238500" y="4000500"/>
            <a:ext cx="2667000" cy="381000"/>
          </a:xfrm>
          <a:prstGeom prst="roundRect">
            <a:avLst>
              <a:gd fmla="val 20000" name="adj"/>
            </a:avLst>
          </a:prstGeom>
          <a:solidFill>
            <a:srgbClr val="0D3B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g3d9eec32958_26_37"/>
          <p:cNvSpPr txBox="1"/>
          <p:nvPr/>
        </p:nvSpPr>
        <p:spPr>
          <a:xfrm>
            <a:off x="3238500" y="4000500"/>
            <a:ext cx="2667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Buy Official Tickets on FIFA.com</a:t>
            </a:r>
            <a:endParaRPr b="1" sz="9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g3d9eec32958_26_37"/>
          <p:cNvSpPr/>
          <p:nvPr/>
        </p:nvSpPr>
        <p:spPr>
          <a:xfrm>
            <a:off x="0" y="4762500"/>
            <a:ext cx="9144000" cy="38100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g3d9eec32958_26_37"/>
          <p:cNvSpPr/>
          <p:nvPr/>
        </p:nvSpPr>
        <p:spPr>
          <a:xfrm>
            <a:off x="0" y="4762500"/>
            <a:ext cx="183000" cy="381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g3d9eec32958_26_37"/>
          <p:cNvSpPr txBox="1"/>
          <p:nvPr/>
        </p:nvSpPr>
        <p:spPr>
          <a:xfrm>
            <a:off x="347663" y="4762500"/>
            <a:ext cx="8503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FFD700"/>
                </a:solidFill>
                <a:latin typeface="Arial"/>
                <a:ea typeface="Arial"/>
                <a:cs typeface="Arial"/>
                <a:sym typeface="Arial"/>
              </a:rPr>
              <a:t>SQL: SELECT tc.category_name, tc.description, tp.round_name, tp.tickets_available, tp.price_usd_min, tp.price_usd_max FROM ticket_pricing tp JOIN ticket_categories tc ON tp.category_id = tc.category_id ORDER BY tp.round_name, tp.category_id</a:t>
            </a:r>
            <a:endParaRPr sz="750">
              <a:solidFill>
                <a:srgbClr val="FFD7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3B66"/>
          </a:solidFill>
          <a:ln cap="flat" cmpd="sng" w="12700">
            <a:solidFill>
              <a:srgbClr val="0D3B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7"/>
          <p:cNvSpPr/>
          <p:nvPr/>
        </p:nvSpPr>
        <p:spPr>
          <a:xfrm>
            <a:off x="0" y="0"/>
            <a:ext cx="182880" cy="914400"/>
          </a:xfrm>
          <a:prstGeom prst="rect">
            <a:avLst/>
          </a:prstGeom>
          <a:solidFill>
            <a:srgbClr val="1A5F9E"/>
          </a:solidFill>
          <a:ln cap="flat" cmpd="sng" w="12700">
            <a:solidFill>
              <a:srgbClr val="1A5F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7"/>
          <p:cNvSpPr/>
          <p:nvPr/>
        </p:nvSpPr>
        <p:spPr>
          <a:xfrm>
            <a:off x="347472" y="0"/>
            <a:ext cx="8503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MATCHES TAB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boston_matches_data()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7"/>
          <p:cNvSpPr/>
          <p:nvPr/>
        </p:nvSpPr>
        <p:spPr>
          <a:xfrm>
            <a:off x="256032" y="1005840"/>
            <a:ext cx="2121408" cy="17190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162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7"/>
          <p:cNvSpPr/>
          <p:nvPr/>
        </p:nvSpPr>
        <p:spPr>
          <a:xfrm>
            <a:off x="256032" y="1005840"/>
            <a:ext cx="2121408" cy="219456"/>
          </a:xfrm>
          <a:prstGeom prst="rect">
            <a:avLst/>
          </a:prstGeom>
          <a:solidFill>
            <a:srgbClr val="0D3B66"/>
          </a:solidFill>
          <a:ln cap="flat" cmpd="sng" w="12700">
            <a:solidFill>
              <a:srgbClr val="0D3B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7"/>
          <p:cNvSpPr/>
          <p:nvPr/>
        </p:nvSpPr>
        <p:spPr>
          <a:xfrm>
            <a:off x="329184" y="1014984"/>
            <a:ext cx="19933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FFD700"/>
                </a:solidFill>
                <a:latin typeface="Arial"/>
                <a:ea typeface="Arial"/>
                <a:cs typeface="Arial"/>
                <a:sym typeface="Arial"/>
              </a:rPr>
              <a:t>Match 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7"/>
          <p:cNvSpPr/>
          <p:nvPr/>
        </p:nvSpPr>
        <p:spPr>
          <a:xfrm>
            <a:off x="347472" y="1280160"/>
            <a:ext cx="198424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3D"/>
              </a:buClr>
              <a:buSzPts val="1200"/>
              <a:buFont typeface="Arial Black"/>
              <a:buNone/>
            </a:pPr>
            <a:r>
              <a:rPr b="1" lang="en-US" sz="1200">
                <a:solidFill>
                  <a:srgbClr val="1F2D3D"/>
                </a:solidFill>
                <a:latin typeface="Arial Black"/>
                <a:ea typeface="Arial Black"/>
                <a:cs typeface="Arial Black"/>
                <a:sym typeface="Arial Black"/>
              </a:rPr>
              <a:t>Haiti vs Scotland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7"/>
          <p:cNvSpPr/>
          <p:nvPr/>
        </p:nvSpPr>
        <p:spPr>
          <a:xfrm>
            <a:off x="347472" y="1773936"/>
            <a:ext cx="19842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F9E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A5F9E"/>
                </a:solidFill>
                <a:latin typeface="Arial"/>
                <a:ea typeface="Arial"/>
                <a:cs typeface="Arial"/>
                <a:sym typeface="Arial"/>
              </a:rPr>
              <a:t>Group H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7"/>
          <p:cNvSpPr/>
          <p:nvPr/>
        </p:nvSpPr>
        <p:spPr>
          <a:xfrm>
            <a:off x="347472" y="2029968"/>
            <a:ext cx="19842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Jun 13  9:00 PM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7"/>
          <p:cNvSpPr/>
          <p:nvPr/>
        </p:nvSpPr>
        <p:spPr>
          <a:xfrm>
            <a:off x="347472" y="2377440"/>
            <a:ext cx="19842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800"/>
              <a:buFont typeface="Arial"/>
              <a:buNone/>
            </a:pPr>
            <a:r>
              <a:rPr i="1" lang="en-US" sz="80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📅 Add to calendar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7"/>
          <p:cNvSpPr/>
          <p:nvPr/>
        </p:nvSpPr>
        <p:spPr>
          <a:xfrm>
            <a:off x="2441448" y="1005840"/>
            <a:ext cx="2121408" cy="17190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162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7"/>
          <p:cNvSpPr/>
          <p:nvPr/>
        </p:nvSpPr>
        <p:spPr>
          <a:xfrm>
            <a:off x="2441448" y="1005840"/>
            <a:ext cx="2121408" cy="219456"/>
          </a:xfrm>
          <a:prstGeom prst="rect">
            <a:avLst/>
          </a:prstGeom>
          <a:solidFill>
            <a:srgbClr val="0D3B66"/>
          </a:solidFill>
          <a:ln cap="flat" cmpd="sng" w="12700">
            <a:solidFill>
              <a:srgbClr val="0D3B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7"/>
          <p:cNvSpPr/>
          <p:nvPr/>
        </p:nvSpPr>
        <p:spPr>
          <a:xfrm>
            <a:off x="2514600" y="1014984"/>
            <a:ext cx="19933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FFD700"/>
                </a:solidFill>
                <a:latin typeface="Arial"/>
                <a:ea typeface="Arial"/>
                <a:cs typeface="Arial"/>
                <a:sym typeface="Arial"/>
              </a:rPr>
              <a:t>Match 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7"/>
          <p:cNvSpPr/>
          <p:nvPr/>
        </p:nvSpPr>
        <p:spPr>
          <a:xfrm>
            <a:off x="2532888" y="1280160"/>
            <a:ext cx="198424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3D"/>
              </a:buClr>
              <a:buSzPts val="1200"/>
              <a:buFont typeface="Arial Black"/>
              <a:buNone/>
            </a:pPr>
            <a:r>
              <a:rPr b="1" lang="en-US" sz="1200">
                <a:solidFill>
                  <a:srgbClr val="1F2D3D"/>
                </a:solidFill>
                <a:latin typeface="Arial Black"/>
                <a:ea typeface="Arial Black"/>
                <a:cs typeface="Arial Black"/>
                <a:sym typeface="Arial Black"/>
              </a:rPr>
              <a:t>France vs Morocco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7"/>
          <p:cNvSpPr/>
          <p:nvPr/>
        </p:nvSpPr>
        <p:spPr>
          <a:xfrm>
            <a:off x="2532888" y="1773936"/>
            <a:ext cx="19842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F9E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A5F9E"/>
                </a:solidFill>
                <a:latin typeface="Arial"/>
                <a:ea typeface="Arial"/>
                <a:cs typeface="Arial"/>
                <a:sym typeface="Arial"/>
              </a:rPr>
              <a:t>Group 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7"/>
          <p:cNvSpPr/>
          <p:nvPr/>
        </p:nvSpPr>
        <p:spPr>
          <a:xfrm>
            <a:off x="2532888" y="2029968"/>
            <a:ext cx="19842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Jun 16  6:00 PM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7"/>
          <p:cNvSpPr/>
          <p:nvPr/>
        </p:nvSpPr>
        <p:spPr>
          <a:xfrm>
            <a:off x="2532888" y="2377440"/>
            <a:ext cx="19842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800"/>
              <a:buFont typeface="Arial"/>
              <a:buNone/>
            </a:pPr>
            <a:r>
              <a:rPr i="1" lang="en-US" sz="80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📅 Add to calendar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7"/>
          <p:cNvSpPr/>
          <p:nvPr/>
        </p:nvSpPr>
        <p:spPr>
          <a:xfrm>
            <a:off x="4626864" y="1005840"/>
            <a:ext cx="2121408" cy="17190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162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7"/>
          <p:cNvSpPr/>
          <p:nvPr/>
        </p:nvSpPr>
        <p:spPr>
          <a:xfrm>
            <a:off x="4626864" y="1005840"/>
            <a:ext cx="2121408" cy="219456"/>
          </a:xfrm>
          <a:prstGeom prst="rect">
            <a:avLst/>
          </a:prstGeom>
          <a:solidFill>
            <a:srgbClr val="0D3B66"/>
          </a:solidFill>
          <a:ln cap="flat" cmpd="sng" w="12700">
            <a:solidFill>
              <a:srgbClr val="0D3B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7"/>
          <p:cNvSpPr/>
          <p:nvPr/>
        </p:nvSpPr>
        <p:spPr>
          <a:xfrm>
            <a:off x="4700016" y="1014984"/>
            <a:ext cx="19933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FFD700"/>
                </a:solidFill>
                <a:latin typeface="Arial"/>
                <a:ea typeface="Arial"/>
                <a:cs typeface="Arial"/>
                <a:sym typeface="Arial"/>
              </a:rPr>
              <a:t>Match 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7"/>
          <p:cNvSpPr/>
          <p:nvPr/>
        </p:nvSpPr>
        <p:spPr>
          <a:xfrm>
            <a:off x="4718304" y="1280160"/>
            <a:ext cx="198424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3D"/>
              </a:buClr>
              <a:buSzPts val="1200"/>
              <a:buFont typeface="Arial Black"/>
              <a:buNone/>
            </a:pPr>
            <a:r>
              <a:rPr b="1" lang="en-US" sz="1200">
                <a:solidFill>
                  <a:srgbClr val="1F2D3D"/>
                </a:solidFill>
                <a:latin typeface="Arial Black"/>
                <a:ea typeface="Arial Black"/>
                <a:cs typeface="Arial Black"/>
                <a:sym typeface="Arial Black"/>
              </a:rPr>
              <a:t>Scotland vs Iraq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7"/>
          <p:cNvSpPr/>
          <p:nvPr/>
        </p:nvSpPr>
        <p:spPr>
          <a:xfrm>
            <a:off x="4718304" y="1773936"/>
            <a:ext cx="19842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F9E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A5F9E"/>
                </a:solidFill>
                <a:latin typeface="Arial"/>
                <a:ea typeface="Arial"/>
                <a:cs typeface="Arial"/>
                <a:sym typeface="Arial"/>
              </a:rPr>
              <a:t>Group H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7"/>
          <p:cNvSpPr/>
          <p:nvPr/>
        </p:nvSpPr>
        <p:spPr>
          <a:xfrm>
            <a:off x="4718304" y="2029968"/>
            <a:ext cx="19842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Jun 20  9:00 PM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7"/>
          <p:cNvSpPr/>
          <p:nvPr/>
        </p:nvSpPr>
        <p:spPr>
          <a:xfrm>
            <a:off x="4718304" y="2377440"/>
            <a:ext cx="19842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800"/>
              <a:buFont typeface="Arial"/>
              <a:buNone/>
            </a:pPr>
            <a:r>
              <a:rPr i="1" lang="en-US" sz="80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📅 Add to calendar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7"/>
          <p:cNvSpPr/>
          <p:nvPr/>
        </p:nvSpPr>
        <p:spPr>
          <a:xfrm>
            <a:off x="6812280" y="1005840"/>
            <a:ext cx="2121408" cy="17190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162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7"/>
          <p:cNvSpPr/>
          <p:nvPr/>
        </p:nvSpPr>
        <p:spPr>
          <a:xfrm>
            <a:off x="6812280" y="1005840"/>
            <a:ext cx="2121408" cy="219456"/>
          </a:xfrm>
          <a:prstGeom prst="rect">
            <a:avLst/>
          </a:prstGeom>
          <a:solidFill>
            <a:srgbClr val="0D3B66"/>
          </a:solidFill>
          <a:ln cap="flat" cmpd="sng" w="12700">
            <a:solidFill>
              <a:srgbClr val="0D3B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7"/>
          <p:cNvSpPr/>
          <p:nvPr/>
        </p:nvSpPr>
        <p:spPr>
          <a:xfrm>
            <a:off x="6885432" y="1014984"/>
            <a:ext cx="19933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FFD700"/>
                </a:solidFill>
                <a:latin typeface="Arial"/>
                <a:ea typeface="Arial"/>
                <a:cs typeface="Arial"/>
                <a:sym typeface="Arial"/>
              </a:rPr>
              <a:t>Match 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7"/>
          <p:cNvSpPr/>
          <p:nvPr/>
        </p:nvSpPr>
        <p:spPr>
          <a:xfrm>
            <a:off x="6903720" y="1280160"/>
            <a:ext cx="198424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3D"/>
              </a:buClr>
              <a:buSzPts val="1200"/>
              <a:buFont typeface="Arial Black"/>
              <a:buNone/>
            </a:pPr>
            <a:r>
              <a:rPr b="1" lang="en-US" sz="1200">
                <a:solidFill>
                  <a:srgbClr val="1F2D3D"/>
                </a:solidFill>
                <a:latin typeface="Arial Black"/>
                <a:ea typeface="Arial Black"/>
                <a:cs typeface="Arial Black"/>
                <a:sym typeface="Arial Black"/>
              </a:rPr>
              <a:t>Norway vs England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7"/>
          <p:cNvSpPr/>
          <p:nvPr/>
        </p:nvSpPr>
        <p:spPr>
          <a:xfrm>
            <a:off x="6903720" y="1773936"/>
            <a:ext cx="19842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F9E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A5F9E"/>
                </a:solidFill>
                <a:latin typeface="Arial"/>
                <a:ea typeface="Arial"/>
                <a:cs typeface="Arial"/>
                <a:sym typeface="Arial"/>
              </a:rPr>
              <a:t>Group F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7"/>
          <p:cNvSpPr/>
          <p:nvPr/>
        </p:nvSpPr>
        <p:spPr>
          <a:xfrm>
            <a:off x="6903720" y="2029968"/>
            <a:ext cx="19842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Jun 23  9:00 PM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7"/>
          <p:cNvSpPr/>
          <p:nvPr/>
        </p:nvSpPr>
        <p:spPr>
          <a:xfrm>
            <a:off x="6903720" y="2377440"/>
            <a:ext cx="19842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800"/>
              <a:buFont typeface="Arial"/>
              <a:buNone/>
            </a:pPr>
            <a:r>
              <a:rPr i="1" lang="en-US" sz="80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📅 Add to calendar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7"/>
          <p:cNvSpPr/>
          <p:nvPr/>
        </p:nvSpPr>
        <p:spPr>
          <a:xfrm>
            <a:off x="329184" y="2889504"/>
            <a:ext cx="2807208" cy="17190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162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7"/>
          <p:cNvSpPr/>
          <p:nvPr/>
        </p:nvSpPr>
        <p:spPr>
          <a:xfrm>
            <a:off x="329184" y="2889504"/>
            <a:ext cx="2807208" cy="219456"/>
          </a:xfrm>
          <a:prstGeom prst="rect">
            <a:avLst/>
          </a:prstGeom>
          <a:solidFill>
            <a:srgbClr val="0D3B66"/>
          </a:solidFill>
          <a:ln cap="flat" cmpd="sng" w="12700">
            <a:solidFill>
              <a:srgbClr val="0D3B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7"/>
          <p:cNvSpPr/>
          <p:nvPr/>
        </p:nvSpPr>
        <p:spPr>
          <a:xfrm>
            <a:off x="402336" y="2898648"/>
            <a:ext cx="26791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FFD700"/>
                </a:solidFill>
                <a:latin typeface="Arial"/>
                <a:ea typeface="Arial"/>
                <a:cs typeface="Arial"/>
                <a:sym typeface="Arial"/>
              </a:rPr>
              <a:t>Match 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7"/>
          <p:cNvSpPr/>
          <p:nvPr/>
        </p:nvSpPr>
        <p:spPr>
          <a:xfrm>
            <a:off x="420624" y="3163824"/>
            <a:ext cx="267004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3D"/>
              </a:buClr>
              <a:buSzPts val="1200"/>
              <a:buFont typeface="Arial Black"/>
              <a:buNone/>
            </a:pPr>
            <a:r>
              <a:rPr b="1" lang="en-US" sz="1200">
                <a:solidFill>
                  <a:srgbClr val="1F2D3D"/>
                </a:solidFill>
                <a:latin typeface="Arial Black"/>
                <a:ea typeface="Arial Black"/>
                <a:cs typeface="Arial Black"/>
                <a:sym typeface="Arial Black"/>
              </a:rPr>
              <a:t>Morocco vs Haiti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7"/>
          <p:cNvSpPr/>
          <p:nvPr/>
        </p:nvSpPr>
        <p:spPr>
          <a:xfrm>
            <a:off x="420624" y="3657600"/>
            <a:ext cx="26700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F9E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A5F9E"/>
                </a:solidFill>
                <a:latin typeface="Arial"/>
                <a:ea typeface="Arial"/>
                <a:cs typeface="Arial"/>
                <a:sym typeface="Arial"/>
              </a:rPr>
              <a:t>Group 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7"/>
          <p:cNvSpPr/>
          <p:nvPr/>
        </p:nvSpPr>
        <p:spPr>
          <a:xfrm>
            <a:off x="420624" y="3913632"/>
            <a:ext cx="26700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Jun 26  6:00 PM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7"/>
          <p:cNvSpPr/>
          <p:nvPr/>
        </p:nvSpPr>
        <p:spPr>
          <a:xfrm>
            <a:off x="420624" y="4261104"/>
            <a:ext cx="26700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800"/>
              <a:buFont typeface="Arial"/>
              <a:buNone/>
            </a:pPr>
            <a:r>
              <a:rPr i="1" lang="en-US" sz="80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📅 Add to calendar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7"/>
          <p:cNvSpPr/>
          <p:nvPr/>
        </p:nvSpPr>
        <p:spPr>
          <a:xfrm>
            <a:off x="3200400" y="2852928"/>
            <a:ext cx="2807208" cy="1719072"/>
          </a:xfrm>
          <a:prstGeom prst="rect">
            <a:avLst/>
          </a:prstGeom>
          <a:solidFill>
            <a:srgbClr val="0D3B66"/>
          </a:solidFill>
          <a:ln cap="flat" cmpd="sng" w="254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162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7"/>
          <p:cNvSpPr/>
          <p:nvPr/>
        </p:nvSpPr>
        <p:spPr>
          <a:xfrm>
            <a:off x="3200400" y="2889504"/>
            <a:ext cx="2807208" cy="219456"/>
          </a:xfrm>
          <a:prstGeom prst="rect">
            <a:avLst/>
          </a:prstGeom>
          <a:solidFill>
            <a:srgbClr val="FFD700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7"/>
          <p:cNvSpPr/>
          <p:nvPr/>
        </p:nvSpPr>
        <p:spPr>
          <a:xfrm>
            <a:off x="3273552" y="2898648"/>
            <a:ext cx="26791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3B66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0D3B66"/>
                </a:solidFill>
                <a:latin typeface="Arial"/>
                <a:ea typeface="Arial"/>
                <a:cs typeface="Arial"/>
                <a:sym typeface="Arial"/>
              </a:rPr>
              <a:t>Match 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7"/>
          <p:cNvSpPr/>
          <p:nvPr/>
        </p:nvSpPr>
        <p:spPr>
          <a:xfrm>
            <a:off x="3291840" y="3163824"/>
            <a:ext cx="267004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 Black"/>
              <a:buNone/>
            </a:pPr>
            <a:r>
              <a:rPr b="1" lang="en-US" sz="1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Round of 32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7"/>
          <p:cNvSpPr/>
          <p:nvPr/>
        </p:nvSpPr>
        <p:spPr>
          <a:xfrm>
            <a:off x="3291840" y="3657600"/>
            <a:ext cx="26700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D700"/>
                </a:solidFill>
                <a:latin typeface="Arial"/>
                <a:ea typeface="Arial"/>
                <a:cs typeface="Arial"/>
                <a:sym typeface="Arial"/>
              </a:rPr>
              <a:t>Knockout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7"/>
          <p:cNvSpPr/>
          <p:nvPr/>
        </p:nvSpPr>
        <p:spPr>
          <a:xfrm>
            <a:off x="3291840" y="3913632"/>
            <a:ext cx="26700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FC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AAFCA"/>
                </a:solidFill>
                <a:latin typeface="Arial"/>
                <a:ea typeface="Arial"/>
                <a:cs typeface="Arial"/>
                <a:sym typeface="Arial"/>
              </a:rPr>
              <a:t>TBD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7"/>
          <p:cNvSpPr/>
          <p:nvPr/>
        </p:nvSpPr>
        <p:spPr>
          <a:xfrm>
            <a:off x="3291840" y="4261104"/>
            <a:ext cx="26700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AB8"/>
              </a:buClr>
              <a:buSzPts val="800"/>
              <a:buFont typeface="Arial"/>
              <a:buNone/>
            </a:pPr>
            <a:r>
              <a:rPr i="1" lang="en-US" sz="800">
                <a:solidFill>
                  <a:srgbClr val="7A9AB8"/>
                </a:solidFill>
                <a:latin typeface="Arial"/>
                <a:ea typeface="Arial"/>
                <a:cs typeface="Arial"/>
                <a:sym typeface="Arial"/>
              </a:rPr>
              <a:t>📅 Add to calendar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7"/>
          <p:cNvSpPr/>
          <p:nvPr/>
        </p:nvSpPr>
        <p:spPr>
          <a:xfrm>
            <a:off x="6071616" y="2852928"/>
            <a:ext cx="2807208" cy="1719072"/>
          </a:xfrm>
          <a:prstGeom prst="rect">
            <a:avLst/>
          </a:prstGeom>
          <a:solidFill>
            <a:srgbClr val="0D3B66"/>
          </a:solidFill>
          <a:ln cap="flat" cmpd="sng" w="254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162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7"/>
          <p:cNvSpPr/>
          <p:nvPr/>
        </p:nvSpPr>
        <p:spPr>
          <a:xfrm>
            <a:off x="6071616" y="2889504"/>
            <a:ext cx="2807208" cy="219456"/>
          </a:xfrm>
          <a:prstGeom prst="rect">
            <a:avLst/>
          </a:prstGeom>
          <a:solidFill>
            <a:srgbClr val="FFD700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7"/>
          <p:cNvSpPr/>
          <p:nvPr/>
        </p:nvSpPr>
        <p:spPr>
          <a:xfrm>
            <a:off x="6144768" y="2898648"/>
            <a:ext cx="26791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3B66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0D3B66"/>
                </a:solidFill>
                <a:latin typeface="Arial"/>
                <a:ea typeface="Arial"/>
                <a:cs typeface="Arial"/>
                <a:sym typeface="Arial"/>
              </a:rPr>
              <a:t>Match 7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7"/>
          <p:cNvSpPr/>
          <p:nvPr/>
        </p:nvSpPr>
        <p:spPr>
          <a:xfrm>
            <a:off x="6163056" y="3163824"/>
            <a:ext cx="267004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 Black"/>
              <a:buNone/>
            </a:pPr>
            <a:r>
              <a:rPr b="1" lang="en-US" sz="1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Quarterfinal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7"/>
          <p:cNvSpPr/>
          <p:nvPr/>
        </p:nvSpPr>
        <p:spPr>
          <a:xfrm>
            <a:off x="6163056" y="3657600"/>
            <a:ext cx="26700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D700"/>
                </a:solidFill>
                <a:latin typeface="Arial"/>
                <a:ea typeface="Arial"/>
                <a:cs typeface="Arial"/>
                <a:sym typeface="Arial"/>
              </a:rPr>
              <a:t>Knockout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7"/>
          <p:cNvSpPr/>
          <p:nvPr/>
        </p:nvSpPr>
        <p:spPr>
          <a:xfrm>
            <a:off x="6163056" y="3913632"/>
            <a:ext cx="26700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FC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AAFCA"/>
                </a:solidFill>
                <a:latin typeface="Arial"/>
                <a:ea typeface="Arial"/>
                <a:cs typeface="Arial"/>
                <a:sym typeface="Arial"/>
              </a:rPr>
              <a:t>TBD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7"/>
          <p:cNvSpPr/>
          <p:nvPr/>
        </p:nvSpPr>
        <p:spPr>
          <a:xfrm>
            <a:off x="6163056" y="4261104"/>
            <a:ext cx="26700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AB8"/>
              </a:buClr>
              <a:buSzPts val="800"/>
              <a:buFont typeface="Arial"/>
              <a:buNone/>
            </a:pPr>
            <a:r>
              <a:rPr i="1" lang="en-US" sz="800">
                <a:solidFill>
                  <a:srgbClr val="7A9AB8"/>
                </a:solidFill>
                <a:latin typeface="Arial"/>
                <a:ea typeface="Arial"/>
                <a:cs typeface="Arial"/>
                <a:sym typeface="Arial"/>
              </a:rPr>
              <a:t>📅 Add to calendar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7"/>
          <p:cNvSpPr/>
          <p:nvPr/>
        </p:nvSpPr>
        <p:spPr>
          <a:xfrm>
            <a:off x="320040" y="4796028"/>
            <a:ext cx="8613648" cy="347472"/>
          </a:xfrm>
          <a:prstGeom prst="rect">
            <a:avLst/>
          </a:prstGeom>
          <a:solidFill>
            <a:srgbClr val="0D3B66"/>
          </a:solidFill>
          <a:ln cap="flat" cmpd="sng" w="12700">
            <a:solidFill>
              <a:srgbClr val="0D3B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7"/>
          <p:cNvSpPr/>
          <p:nvPr/>
        </p:nvSpPr>
        <p:spPr>
          <a:xfrm>
            <a:off x="1911096" y="4818888"/>
            <a:ext cx="8503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FFD700"/>
                </a:solidFill>
                <a:latin typeface="Arial"/>
                <a:ea typeface="Arial"/>
                <a:cs typeface="Arial"/>
                <a:sym typeface="Arial"/>
              </a:rPr>
              <a:t>SQL: SELECT * FROM matches WHERE location = 'Boston Stadium' ORDER BY match_id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9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3B66"/>
          </a:solidFill>
          <a:ln cap="flat" cmpd="sng" w="12700">
            <a:solidFill>
              <a:srgbClr val="0D3B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9"/>
          <p:cNvSpPr/>
          <p:nvPr/>
        </p:nvSpPr>
        <p:spPr>
          <a:xfrm>
            <a:off x="0" y="0"/>
            <a:ext cx="182880" cy="914400"/>
          </a:xfrm>
          <a:prstGeom prst="rect">
            <a:avLst/>
          </a:prstGeom>
          <a:solidFill>
            <a:srgbClr val="7B2D8B"/>
          </a:solidFill>
          <a:ln cap="flat" cmpd="sng" w="12700">
            <a:solidFill>
              <a:srgbClr val="7B2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9"/>
          <p:cNvSpPr/>
          <p:nvPr/>
        </p:nvSpPr>
        <p:spPr>
          <a:xfrm>
            <a:off x="347472" y="0"/>
            <a:ext cx="8503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TRANSPORT &amp; LODGING  ·  GETTING THERE + STAYING NEARBY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9"/>
          <p:cNvSpPr/>
          <p:nvPr/>
        </p:nvSpPr>
        <p:spPr>
          <a:xfrm>
            <a:off x="274320" y="987552"/>
            <a:ext cx="4206240" cy="347472"/>
          </a:xfrm>
          <a:prstGeom prst="rect">
            <a:avLst/>
          </a:prstGeom>
          <a:solidFill>
            <a:srgbClr val="7B2D8B"/>
          </a:solidFill>
          <a:ln cap="flat" cmpd="sng" w="12700">
            <a:solidFill>
              <a:srgbClr val="7B2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9"/>
          <p:cNvSpPr/>
          <p:nvPr/>
        </p:nvSpPr>
        <p:spPr>
          <a:xfrm>
            <a:off x="274320" y="987552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🚌  Transportation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9"/>
          <p:cNvSpPr/>
          <p:nvPr/>
        </p:nvSpPr>
        <p:spPr>
          <a:xfrm>
            <a:off x="274320" y="1417320"/>
            <a:ext cx="420624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162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9"/>
          <p:cNvSpPr/>
          <p:nvPr/>
        </p:nvSpPr>
        <p:spPr>
          <a:xfrm>
            <a:off x="411480" y="146304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3D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Route Selector: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9"/>
          <p:cNvSpPr/>
          <p:nvPr/>
        </p:nvSpPr>
        <p:spPr>
          <a:xfrm>
            <a:off x="1664208" y="1508760"/>
            <a:ext cx="2651760" cy="384048"/>
          </a:xfrm>
          <a:prstGeom prst="rect">
            <a:avLst/>
          </a:prstGeom>
          <a:solidFill>
            <a:srgbClr val="0D3B66"/>
          </a:solidFill>
          <a:ln cap="flat" cmpd="sng" w="12700">
            <a:solidFill>
              <a:srgbClr val="0D3B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9"/>
          <p:cNvSpPr/>
          <p:nvPr/>
        </p:nvSpPr>
        <p:spPr>
          <a:xfrm>
            <a:off x="1664208" y="1508760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Select Route  ▾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9"/>
          <p:cNvSpPr/>
          <p:nvPr/>
        </p:nvSpPr>
        <p:spPr>
          <a:xfrm>
            <a:off x="347472" y="2103120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3D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Origin: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9"/>
          <p:cNvSpPr/>
          <p:nvPr/>
        </p:nvSpPr>
        <p:spPr>
          <a:xfrm>
            <a:off x="1755648" y="2103120"/>
            <a:ext cx="26334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e.g. South Station, Boston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9"/>
          <p:cNvSpPr/>
          <p:nvPr/>
        </p:nvSpPr>
        <p:spPr>
          <a:xfrm>
            <a:off x="347472" y="2450592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3D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Destination: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9"/>
          <p:cNvSpPr/>
          <p:nvPr/>
        </p:nvSpPr>
        <p:spPr>
          <a:xfrm>
            <a:off x="1755648" y="2450592"/>
            <a:ext cx="26334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Gillette Stadium, Foxborough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9"/>
          <p:cNvSpPr/>
          <p:nvPr/>
        </p:nvSpPr>
        <p:spPr>
          <a:xfrm>
            <a:off x="347472" y="2798064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3D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Time: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9"/>
          <p:cNvSpPr/>
          <p:nvPr/>
        </p:nvSpPr>
        <p:spPr>
          <a:xfrm>
            <a:off x="1755648" y="2798064"/>
            <a:ext cx="26334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~55 min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9"/>
          <p:cNvSpPr/>
          <p:nvPr/>
        </p:nvSpPr>
        <p:spPr>
          <a:xfrm>
            <a:off x="347472" y="3145536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3D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Fare: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9"/>
          <p:cNvSpPr/>
          <p:nvPr/>
        </p:nvSpPr>
        <p:spPr>
          <a:xfrm>
            <a:off x="1755648" y="3145536"/>
            <a:ext cx="26334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~$12–18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9"/>
          <p:cNvSpPr/>
          <p:nvPr/>
        </p:nvSpPr>
        <p:spPr>
          <a:xfrm>
            <a:off x="347472" y="3493008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3D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Matchday Only: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9"/>
          <p:cNvSpPr/>
          <p:nvPr/>
        </p:nvSpPr>
        <p:spPr>
          <a:xfrm>
            <a:off x="1755648" y="3493008"/>
            <a:ext cx="26334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9"/>
          <p:cNvSpPr/>
          <p:nvPr/>
        </p:nvSpPr>
        <p:spPr>
          <a:xfrm>
            <a:off x="347472" y="3840480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3D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Reservation: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9"/>
          <p:cNvSpPr/>
          <p:nvPr/>
        </p:nvSpPr>
        <p:spPr>
          <a:xfrm>
            <a:off x="1755648" y="3840480"/>
            <a:ext cx="26334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Not required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9"/>
          <p:cNvSpPr/>
          <p:nvPr/>
        </p:nvSpPr>
        <p:spPr>
          <a:xfrm>
            <a:off x="274320" y="4177284"/>
            <a:ext cx="4206240" cy="502920"/>
          </a:xfrm>
          <a:prstGeom prst="rect">
            <a:avLst/>
          </a:prstGeom>
          <a:solidFill>
            <a:srgbClr val="EEF3F8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9"/>
          <p:cNvSpPr/>
          <p:nvPr/>
        </p:nvSpPr>
        <p:spPr>
          <a:xfrm>
            <a:off x="347472" y="4242816"/>
            <a:ext cx="405993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850"/>
              <a:buFont typeface="Arial"/>
              <a:buNone/>
            </a:pPr>
            <a:r>
              <a:rPr i="1" lang="en-US" sz="85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📍 Live Google Maps Directions iframe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850"/>
              <a:buFont typeface="Arial"/>
              <a:buNone/>
            </a:pPr>
            <a:r>
              <a:rPr i="1" lang="en-US" sz="85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(transit mode, updates per selected route)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9"/>
          <p:cNvSpPr/>
          <p:nvPr/>
        </p:nvSpPr>
        <p:spPr>
          <a:xfrm>
            <a:off x="0" y="4818888"/>
            <a:ext cx="4480560" cy="438912"/>
          </a:xfrm>
          <a:prstGeom prst="rect">
            <a:avLst/>
          </a:prstGeom>
          <a:solidFill>
            <a:srgbClr val="0D3B66"/>
          </a:solidFill>
          <a:ln cap="flat" cmpd="sng" w="12700">
            <a:solidFill>
              <a:srgbClr val="0D3B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9"/>
          <p:cNvSpPr/>
          <p:nvPr/>
        </p:nvSpPr>
        <p:spPr>
          <a:xfrm>
            <a:off x="384048" y="4919472"/>
            <a:ext cx="40599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FFD700"/>
                </a:solidFill>
                <a:latin typeface="Arial"/>
                <a:ea typeface="Arial"/>
                <a:cs typeface="Arial"/>
                <a:sym typeface="Arial"/>
              </a:rPr>
              <a:t>SQL: SELECT * FROM transport_routes ORDER BY display_order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9"/>
          <p:cNvSpPr/>
          <p:nvPr/>
        </p:nvSpPr>
        <p:spPr>
          <a:xfrm>
            <a:off x="4663440" y="987552"/>
            <a:ext cx="4160520" cy="347472"/>
          </a:xfrm>
          <a:prstGeom prst="rect">
            <a:avLst/>
          </a:prstGeom>
          <a:solidFill>
            <a:srgbClr val="1A5F9E"/>
          </a:solidFill>
          <a:ln cap="flat" cmpd="sng" w="12700">
            <a:solidFill>
              <a:srgbClr val="1A5F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9"/>
          <p:cNvSpPr/>
          <p:nvPr/>
        </p:nvSpPr>
        <p:spPr>
          <a:xfrm>
            <a:off x="4663440" y="987552"/>
            <a:ext cx="4160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🏨  Lodging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9"/>
          <p:cNvSpPr/>
          <p:nvPr/>
        </p:nvSpPr>
        <p:spPr>
          <a:xfrm>
            <a:off x="4736592" y="1417320"/>
            <a:ext cx="1664208" cy="384048"/>
          </a:xfrm>
          <a:prstGeom prst="rect">
            <a:avLst/>
          </a:prstGeom>
          <a:solidFill>
            <a:srgbClr val="0D3B66"/>
          </a:solidFill>
          <a:ln cap="flat" cmpd="sng" w="12700">
            <a:solidFill>
              <a:srgbClr val="0D3B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9"/>
          <p:cNvSpPr/>
          <p:nvPr/>
        </p:nvSpPr>
        <p:spPr>
          <a:xfrm>
            <a:off x="4736592" y="1417320"/>
            <a:ext cx="16642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Category ▾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9"/>
          <p:cNvSpPr/>
          <p:nvPr/>
        </p:nvSpPr>
        <p:spPr>
          <a:xfrm>
            <a:off x="6473952" y="1417320"/>
            <a:ext cx="1664208" cy="384048"/>
          </a:xfrm>
          <a:prstGeom prst="rect">
            <a:avLst/>
          </a:prstGeom>
          <a:solidFill>
            <a:srgbClr val="0D3B66"/>
          </a:solidFill>
          <a:ln cap="flat" cmpd="sng" w="12700">
            <a:solidFill>
              <a:srgbClr val="0D3B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9"/>
          <p:cNvSpPr/>
          <p:nvPr/>
        </p:nvSpPr>
        <p:spPr>
          <a:xfrm>
            <a:off x="6473952" y="1417320"/>
            <a:ext cx="16642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Max Distance ◀▶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9"/>
          <p:cNvSpPr/>
          <p:nvPr/>
        </p:nvSpPr>
        <p:spPr>
          <a:xfrm>
            <a:off x="4663440" y="1920240"/>
            <a:ext cx="4160520" cy="14447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9"/>
          <p:cNvSpPr/>
          <p:nvPr/>
        </p:nvSpPr>
        <p:spPr>
          <a:xfrm>
            <a:off x="4663440" y="3474720"/>
            <a:ext cx="4160520" cy="12618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9"/>
          <p:cNvSpPr/>
          <p:nvPr/>
        </p:nvSpPr>
        <p:spPr>
          <a:xfrm>
            <a:off x="4800600" y="3538728"/>
            <a:ext cx="3886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3B66"/>
              </a:buClr>
              <a:buSzPts val="1200"/>
              <a:buFont typeface="Arial Black"/>
              <a:buNone/>
            </a:pPr>
            <a:r>
              <a:rPr b="1" lang="en-US" sz="1200">
                <a:solidFill>
                  <a:srgbClr val="0D3B66"/>
                </a:solidFill>
                <a:latin typeface="Arial Black"/>
                <a:ea typeface="Arial Black"/>
                <a:cs typeface="Arial Black"/>
                <a:sym typeface="Arial Black"/>
              </a:rPr>
              <a:t>📋  DT::datatable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9"/>
          <p:cNvSpPr/>
          <p:nvPr/>
        </p:nvSpPr>
        <p:spPr>
          <a:xfrm>
            <a:off x="4800600" y="3904488"/>
            <a:ext cx="38862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Columns: title, category, stars, miles_to_stadium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star → gold color-bar via formatStyle()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Rows sortable &amp; paginated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9"/>
          <p:cNvSpPr/>
          <p:nvPr/>
        </p:nvSpPr>
        <p:spPr>
          <a:xfrm>
            <a:off x="4663440" y="4754880"/>
            <a:ext cx="4187952" cy="502920"/>
          </a:xfrm>
          <a:prstGeom prst="rect">
            <a:avLst/>
          </a:prstGeom>
          <a:solidFill>
            <a:srgbClr val="0D3B66"/>
          </a:solidFill>
          <a:ln cap="flat" cmpd="sng" w="12700">
            <a:solidFill>
              <a:srgbClr val="0D3B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9"/>
          <p:cNvSpPr/>
          <p:nvPr/>
        </p:nvSpPr>
        <p:spPr>
          <a:xfrm>
            <a:off x="4745736" y="4846320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FFD700"/>
                </a:solidFill>
                <a:latin typeface="Arial"/>
                <a:ea typeface="Arial"/>
                <a:cs typeface="Arial"/>
                <a:sym typeface="Arial"/>
              </a:rPr>
              <a:t>SQL: SELECT stay_id, title, category, lat, lng, stars, miles_to_stadium FROM stays ORDER BY miles_to_stadium ASC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9"/>
          <p:cNvSpPr/>
          <p:nvPr/>
        </p:nvSpPr>
        <p:spPr>
          <a:xfrm>
            <a:off x="0" y="4818888"/>
            <a:ext cx="164592" cy="324612"/>
          </a:xfrm>
          <a:prstGeom prst="rect">
            <a:avLst/>
          </a:prstGeom>
          <a:solidFill>
            <a:srgbClr val="7B2D8B"/>
          </a:solidFill>
          <a:ln cap="flat" cmpd="sng" w="12700">
            <a:solidFill>
              <a:srgbClr val="7B2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9"/>
          <p:cNvSpPr/>
          <p:nvPr/>
        </p:nvSpPr>
        <p:spPr>
          <a:xfrm>
            <a:off x="4843950" y="2003121"/>
            <a:ext cx="4160400" cy="3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3B66"/>
              </a:buClr>
              <a:buSzPts val="1285"/>
              <a:buFont typeface="Arial Black"/>
              <a:buNone/>
            </a:pPr>
            <a:r>
              <a:rPr b="1" lang="en-US" sz="1185">
                <a:solidFill>
                  <a:srgbClr val="0D3B66"/>
                </a:solidFill>
                <a:latin typeface="Arial Black"/>
                <a:ea typeface="Arial Black"/>
                <a:cs typeface="Arial Black"/>
                <a:sym typeface="Arial Black"/>
              </a:rPr>
              <a:t>🗺  Leaflet Map</a:t>
            </a:r>
            <a:endParaRPr sz="118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9"/>
          <p:cNvSpPr/>
          <p:nvPr/>
        </p:nvSpPr>
        <p:spPr>
          <a:xfrm>
            <a:off x="4745713" y="2422294"/>
            <a:ext cx="4160400" cy="8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1071"/>
              <a:buFont typeface="Arial"/>
              <a:buNone/>
            </a:pPr>
            <a:r>
              <a:rPr lang="en-US" sz="1071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Red pin = Gillette Stadium</a:t>
            </a:r>
            <a:endParaRPr sz="107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1071"/>
              <a:buFont typeface="Arial"/>
              <a:buNone/>
            </a:pPr>
            <a:r>
              <a:rPr lang="en-US" sz="1071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Blue markers = hotels &amp; stays</a:t>
            </a:r>
            <a:endParaRPr sz="107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1071"/>
              <a:buFont typeface="Arial"/>
              <a:buNone/>
            </a:pPr>
            <a:r>
              <a:rPr lang="en-US" sz="1071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Popup: name + star rating</a:t>
            </a:r>
            <a:endParaRPr sz="107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3B66"/>
          </a:solidFill>
          <a:ln cap="flat" cmpd="sng" w="12700">
            <a:solidFill>
              <a:srgbClr val="0D3B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8"/>
          <p:cNvSpPr/>
          <p:nvPr/>
        </p:nvSpPr>
        <p:spPr>
          <a:xfrm>
            <a:off x="0" y="0"/>
            <a:ext cx="182880" cy="9144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8"/>
          <p:cNvSpPr/>
          <p:nvPr/>
        </p:nvSpPr>
        <p:spPr>
          <a:xfrm>
            <a:off x="347472" y="0"/>
            <a:ext cx="8503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DINING TAB  ·  GILLETTE STADIUM RESTAURANTS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8"/>
          <p:cNvSpPr/>
          <p:nvPr/>
        </p:nvSpPr>
        <p:spPr>
          <a:xfrm>
            <a:off x="320040" y="1005840"/>
            <a:ext cx="2651760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162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8"/>
          <p:cNvSpPr/>
          <p:nvPr/>
        </p:nvSpPr>
        <p:spPr>
          <a:xfrm>
            <a:off x="320040" y="1005840"/>
            <a:ext cx="2651760" cy="164592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8"/>
          <p:cNvSpPr/>
          <p:nvPr/>
        </p:nvSpPr>
        <p:spPr>
          <a:xfrm>
            <a:off x="320040" y="1207008"/>
            <a:ext cx="2651760" cy="570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600"/>
              <a:buFont typeface="Arial Black"/>
              <a:buNone/>
            </a:pPr>
            <a:r>
              <a:rPr b="1" lang="en-US" sz="2600">
                <a:solidFill>
                  <a:srgbClr val="C0392B"/>
                </a:solidFill>
                <a:latin typeface="Arial Black"/>
                <a:ea typeface="Arial Black"/>
                <a:cs typeface="Arial Black"/>
                <a:sym typeface="Arial Black"/>
              </a:rPr>
              <a:t>52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8"/>
          <p:cNvSpPr/>
          <p:nvPr/>
        </p:nvSpPr>
        <p:spPr>
          <a:xfrm>
            <a:off x="320040" y="1814170"/>
            <a:ext cx="2651760" cy="332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Total Restaurants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8"/>
          <p:cNvSpPr/>
          <p:nvPr/>
        </p:nvSpPr>
        <p:spPr>
          <a:xfrm>
            <a:off x="3172968" y="1005840"/>
            <a:ext cx="2651760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162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8"/>
          <p:cNvSpPr/>
          <p:nvPr/>
        </p:nvSpPr>
        <p:spPr>
          <a:xfrm>
            <a:off x="3172968" y="1005840"/>
            <a:ext cx="2651760" cy="164592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8"/>
          <p:cNvSpPr/>
          <p:nvPr/>
        </p:nvSpPr>
        <p:spPr>
          <a:xfrm>
            <a:off x="3172968" y="1207008"/>
            <a:ext cx="2651760" cy="570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600"/>
              <a:buFont typeface="Arial Black"/>
              <a:buNone/>
            </a:pPr>
            <a:r>
              <a:rPr b="1" lang="en-US" sz="2600">
                <a:solidFill>
                  <a:srgbClr val="C0392B"/>
                </a:solidFill>
                <a:latin typeface="Arial Black"/>
                <a:ea typeface="Arial Black"/>
                <a:cs typeface="Arial Black"/>
                <a:sym typeface="Arial Black"/>
              </a:rPr>
              <a:t>4.2 ★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8"/>
          <p:cNvSpPr/>
          <p:nvPr/>
        </p:nvSpPr>
        <p:spPr>
          <a:xfrm>
            <a:off x="3172968" y="1814170"/>
            <a:ext cx="2651760" cy="332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Avg Star Rating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8"/>
          <p:cNvSpPr/>
          <p:nvPr/>
        </p:nvSpPr>
        <p:spPr>
          <a:xfrm>
            <a:off x="6025896" y="1005840"/>
            <a:ext cx="2651760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162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8"/>
          <p:cNvSpPr/>
          <p:nvPr/>
        </p:nvSpPr>
        <p:spPr>
          <a:xfrm>
            <a:off x="6025896" y="1005840"/>
            <a:ext cx="2651760" cy="164592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8"/>
          <p:cNvSpPr/>
          <p:nvPr/>
        </p:nvSpPr>
        <p:spPr>
          <a:xfrm>
            <a:off x="6025896" y="1207008"/>
            <a:ext cx="2651760" cy="570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600"/>
              <a:buFont typeface="Arial Black"/>
              <a:buNone/>
            </a:pPr>
            <a:r>
              <a:rPr b="1" lang="en-US" sz="2600">
                <a:solidFill>
                  <a:srgbClr val="C0392B"/>
                </a:solidFill>
                <a:latin typeface="Arial Black"/>
                <a:ea typeface="Arial Black"/>
                <a:cs typeface="Arial Black"/>
                <a:sym typeface="Arial Black"/>
              </a:rPr>
              <a:t>0.15 mi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8"/>
          <p:cNvSpPr/>
          <p:nvPr/>
        </p:nvSpPr>
        <p:spPr>
          <a:xfrm>
            <a:off x="6025896" y="1814170"/>
            <a:ext cx="2651760" cy="332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Closest Restaurant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8"/>
          <p:cNvSpPr/>
          <p:nvPr/>
        </p:nvSpPr>
        <p:spPr>
          <a:xfrm>
            <a:off x="320040" y="2304288"/>
            <a:ext cx="8503920" cy="658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162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8"/>
          <p:cNvSpPr/>
          <p:nvPr/>
        </p:nvSpPr>
        <p:spPr>
          <a:xfrm>
            <a:off x="475488" y="2359152"/>
            <a:ext cx="777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3D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Filters: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8"/>
          <p:cNvSpPr/>
          <p:nvPr/>
        </p:nvSpPr>
        <p:spPr>
          <a:xfrm>
            <a:off x="1325880" y="2395728"/>
            <a:ext cx="1664208" cy="475488"/>
          </a:xfrm>
          <a:prstGeom prst="rect">
            <a:avLst/>
          </a:prstGeom>
          <a:solidFill>
            <a:srgbClr val="0D3B66"/>
          </a:solidFill>
          <a:ln cap="flat" cmpd="sng" w="12700">
            <a:solidFill>
              <a:srgbClr val="0D3B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8"/>
          <p:cNvSpPr/>
          <p:nvPr/>
        </p:nvSpPr>
        <p:spPr>
          <a:xfrm>
            <a:off x="1325880" y="2395728"/>
            <a:ext cx="166420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Cuisine ▾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8"/>
          <p:cNvSpPr/>
          <p:nvPr/>
        </p:nvSpPr>
        <p:spPr>
          <a:xfrm>
            <a:off x="3136392" y="2395728"/>
            <a:ext cx="1664208" cy="475488"/>
          </a:xfrm>
          <a:prstGeom prst="rect">
            <a:avLst/>
          </a:prstGeom>
          <a:solidFill>
            <a:srgbClr val="0D3B66"/>
          </a:solidFill>
          <a:ln cap="flat" cmpd="sng" w="12700">
            <a:solidFill>
              <a:srgbClr val="0D3B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8"/>
          <p:cNvSpPr/>
          <p:nvPr/>
        </p:nvSpPr>
        <p:spPr>
          <a:xfrm>
            <a:off x="3136392" y="2395728"/>
            <a:ext cx="166420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Max Distance (mi) ◀▶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8"/>
          <p:cNvSpPr/>
          <p:nvPr/>
        </p:nvSpPr>
        <p:spPr>
          <a:xfrm>
            <a:off x="4946904" y="2395728"/>
            <a:ext cx="1664208" cy="475488"/>
          </a:xfrm>
          <a:prstGeom prst="rect">
            <a:avLst/>
          </a:prstGeom>
          <a:solidFill>
            <a:srgbClr val="0D3B66"/>
          </a:solidFill>
          <a:ln cap="flat" cmpd="sng" w="12700">
            <a:solidFill>
              <a:srgbClr val="0D3B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8"/>
          <p:cNvSpPr/>
          <p:nvPr/>
        </p:nvSpPr>
        <p:spPr>
          <a:xfrm>
            <a:off x="4946904" y="2395728"/>
            <a:ext cx="166420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Min Stars ◀▶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8"/>
          <p:cNvSpPr/>
          <p:nvPr/>
        </p:nvSpPr>
        <p:spPr>
          <a:xfrm>
            <a:off x="6757416" y="2395728"/>
            <a:ext cx="1664208" cy="475488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8"/>
          <p:cNvSpPr/>
          <p:nvPr/>
        </p:nvSpPr>
        <p:spPr>
          <a:xfrm>
            <a:off x="6757416" y="2395728"/>
            <a:ext cx="166420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Reset Filters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8"/>
          <p:cNvSpPr/>
          <p:nvPr/>
        </p:nvSpPr>
        <p:spPr>
          <a:xfrm>
            <a:off x="320040" y="3063240"/>
            <a:ext cx="5074920" cy="1508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8"/>
          <p:cNvSpPr/>
          <p:nvPr/>
        </p:nvSpPr>
        <p:spPr>
          <a:xfrm>
            <a:off x="457200" y="3127248"/>
            <a:ext cx="4754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3B66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0D3B66"/>
                </a:solidFill>
                <a:latin typeface="Arial Black"/>
                <a:ea typeface="Arial Black"/>
                <a:cs typeface="Arial Black"/>
                <a:sym typeface="Arial Black"/>
              </a:rPr>
              <a:t>🗺  Leaflet Map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8"/>
          <p:cNvSpPr/>
          <p:nvPr/>
        </p:nvSpPr>
        <p:spPr>
          <a:xfrm>
            <a:off x="457200" y="3493008"/>
            <a:ext cx="4754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• Red pin = Gillette Stadium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• Navy pins = restaurants (addAwesomeMarkers)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• Click pin → detail panel + Google Maps link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8"/>
          <p:cNvSpPr/>
          <p:nvPr/>
        </p:nvSpPr>
        <p:spPr>
          <a:xfrm>
            <a:off x="5577840" y="3063240"/>
            <a:ext cx="3246120" cy="1508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8"/>
          <p:cNvSpPr/>
          <p:nvPr/>
        </p:nvSpPr>
        <p:spPr>
          <a:xfrm>
            <a:off x="5715000" y="3127248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3B66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0D3B66"/>
                </a:solidFill>
                <a:latin typeface="Arial Black"/>
                <a:ea typeface="Arial Black"/>
                <a:cs typeface="Arial Black"/>
                <a:sym typeface="Arial Black"/>
              </a:rPr>
              <a:t>📋  DT::datatable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8"/>
          <p:cNvSpPr/>
          <p:nvPr/>
        </p:nvSpPr>
        <p:spPr>
          <a:xfrm>
            <a:off x="5715000" y="3493008"/>
            <a:ext cx="3017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Stars → gold color-bar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Distance → green/orange/red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PageLength 10, scrollX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8"/>
          <p:cNvSpPr/>
          <p:nvPr/>
        </p:nvSpPr>
        <p:spPr>
          <a:xfrm>
            <a:off x="0" y="4681728"/>
            <a:ext cx="9212580" cy="461772"/>
          </a:xfrm>
          <a:prstGeom prst="rect">
            <a:avLst/>
          </a:prstGeom>
          <a:solidFill>
            <a:srgbClr val="0D3B66"/>
          </a:solidFill>
          <a:ln cap="flat" cmpd="sng" w="12700">
            <a:solidFill>
              <a:srgbClr val="0D3B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8"/>
          <p:cNvSpPr/>
          <p:nvPr/>
        </p:nvSpPr>
        <p:spPr>
          <a:xfrm>
            <a:off x="822960" y="4729276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FFD700"/>
                </a:solidFill>
                <a:latin typeface="Arial"/>
                <a:ea typeface="Arial"/>
                <a:cs typeface="Arial"/>
                <a:sym typeface="Arial"/>
              </a:rPr>
              <a:t>SQL: SELECT rest_id, title, category, stars, miles_from_stadium, latitude, longitude, address FROM gillette_restaurants ORDER BY miles_from_stadium ASC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8"/>
          <p:cNvSpPr/>
          <p:nvPr/>
        </p:nvSpPr>
        <p:spPr>
          <a:xfrm>
            <a:off x="0" y="4681728"/>
            <a:ext cx="164592" cy="461772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8"/>
          <p:cNvSpPr/>
          <p:nvPr/>
        </p:nvSpPr>
        <p:spPr>
          <a:xfrm>
            <a:off x="256032" y="4818888"/>
            <a:ext cx="8686800" cy="324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1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3B66"/>
          </a:solidFill>
          <a:ln cap="flat" cmpd="sng" w="12700">
            <a:solidFill>
              <a:srgbClr val="0D3B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0"/>
          <p:cNvSpPr/>
          <p:nvPr/>
        </p:nvSpPr>
        <p:spPr>
          <a:xfrm>
            <a:off x="0" y="0"/>
            <a:ext cx="182880" cy="914400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0"/>
          <p:cNvSpPr/>
          <p:nvPr/>
        </p:nvSpPr>
        <p:spPr>
          <a:xfrm>
            <a:off x="347472" y="0"/>
            <a:ext cx="8503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PLAYERS &amp; TEAMS TAB  ·  ROSTER EXPLORER + CHARTS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0"/>
          <p:cNvSpPr/>
          <p:nvPr/>
        </p:nvSpPr>
        <p:spPr>
          <a:xfrm>
            <a:off x="256032" y="987552"/>
            <a:ext cx="2011680" cy="1143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162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0"/>
          <p:cNvSpPr/>
          <p:nvPr/>
        </p:nvSpPr>
        <p:spPr>
          <a:xfrm>
            <a:off x="256032" y="987552"/>
            <a:ext cx="2011680" cy="164592"/>
          </a:xfrm>
          <a:prstGeom prst="rect">
            <a:avLst/>
          </a:prstGeom>
          <a:solidFill>
            <a:srgbClr val="0D3B66"/>
          </a:solidFill>
          <a:ln cap="flat" cmpd="sng" w="12700">
            <a:solidFill>
              <a:srgbClr val="0D3B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0"/>
          <p:cNvSpPr/>
          <p:nvPr/>
        </p:nvSpPr>
        <p:spPr>
          <a:xfrm>
            <a:off x="256032" y="118872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3B66"/>
              </a:buClr>
              <a:buSzPts val="2600"/>
              <a:buFont typeface="Arial Black"/>
              <a:buNone/>
            </a:pPr>
            <a:r>
              <a:rPr b="1" lang="en-US" sz="2600">
                <a:solidFill>
                  <a:srgbClr val="0D3B66"/>
                </a:solidFill>
                <a:latin typeface="Arial Black"/>
                <a:ea typeface="Arial Black"/>
                <a:cs typeface="Arial Black"/>
                <a:sym typeface="Arial Black"/>
              </a:rPr>
              <a:t>200+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0"/>
          <p:cNvSpPr/>
          <p:nvPr/>
        </p:nvSpPr>
        <p:spPr>
          <a:xfrm>
            <a:off x="256032" y="1764792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Total Players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0"/>
          <p:cNvSpPr/>
          <p:nvPr/>
        </p:nvSpPr>
        <p:spPr>
          <a:xfrm>
            <a:off x="2432304" y="987552"/>
            <a:ext cx="2011680" cy="1143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162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0"/>
          <p:cNvSpPr/>
          <p:nvPr/>
        </p:nvSpPr>
        <p:spPr>
          <a:xfrm>
            <a:off x="2432304" y="987552"/>
            <a:ext cx="2011680" cy="164592"/>
          </a:xfrm>
          <a:prstGeom prst="rect">
            <a:avLst/>
          </a:prstGeom>
          <a:solidFill>
            <a:srgbClr val="2D6A4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0"/>
          <p:cNvSpPr/>
          <p:nvPr/>
        </p:nvSpPr>
        <p:spPr>
          <a:xfrm>
            <a:off x="2432304" y="118872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2600"/>
              <a:buFont typeface="Arial Black"/>
              <a:buNone/>
            </a:pPr>
            <a:r>
              <a:rPr b="1" lang="en-US" sz="2600">
                <a:solidFill>
                  <a:srgbClr val="2D6A4F"/>
                </a:solidFill>
                <a:latin typeface="Arial Black"/>
                <a:ea typeface="Arial Black"/>
                <a:cs typeface="Arial Black"/>
                <a:sym typeface="Arial Black"/>
              </a:rPr>
              <a:t>10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0"/>
          <p:cNvSpPr/>
          <p:nvPr/>
        </p:nvSpPr>
        <p:spPr>
          <a:xfrm>
            <a:off x="2432304" y="1764792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National Teams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0"/>
          <p:cNvSpPr/>
          <p:nvPr/>
        </p:nvSpPr>
        <p:spPr>
          <a:xfrm>
            <a:off x="4608576" y="987552"/>
            <a:ext cx="2011680" cy="1143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162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0"/>
          <p:cNvSpPr/>
          <p:nvPr/>
        </p:nvSpPr>
        <p:spPr>
          <a:xfrm>
            <a:off x="4608576" y="987552"/>
            <a:ext cx="2011680" cy="164592"/>
          </a:xfrm>
          <a:prstGeom prst="rect">
            <a:avLst/>
          </a:prstGeom>
          <a:solidFill>
            <a:srgbClr val="7B2D8B"/>
          </a:solidFill>
          <a:ln cap="flat" cmpd="sng" w="12700">
            <a:solidFill>
              <a:srgbClr val="7B2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0"/>
          <p:cNvSpPr/>
          <p:nvPr/>
        </p:nvSpPr>
        <p:spPr>
          <a:xfrm>
            <a:off x="4608576" y="118872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8B"/>
              </a:buClr>
              <a:buSzPts val="2600"/>
              <a:buFont typeface="Arial Black"/>
              <a:buNone/>
            </a:pPr>
            <a:r>
              <a:rPr b="1" lang="en-US" sz="2600">
                <a:solidFill>
                  <a:srgbClr val="7B2D8B"/>
                </a:solidFill>
                <a:latin typeface="Arial Black"/>
                <a:ea typeface="Arial Black"/>
                <a:cs typeface="Arial Black"/>
                <a:sym typeface="Arial Black"/>
              </a:rPr>
              <a:t>80+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0"/>
          <p:cNvSpPr/>
          <p:nvPr/>
        </p:nvSpPr>
        <p:spPr>
          <a:xfrm>
            <a:off x="4608576" y="1764792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Clubs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0"/>
          <p:cNvSpPr/>
          <p:nvPr/>
        </p:nvSpPr>
        <p:spPr>
          <a:xfrm>
            <a:off x="6784848" y="987552"/>
            <a:ext cx="2011680" cy="1143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162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0"/>
          <p:cNvSpPr/>
          <p:nvPr/>
        </p:nvSpPr>
        <p:spPr>
          <a:xfrm>
            <a:off x="6784848" y="987552"/>
            <a:ext cx="2011680" cy="164592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0"/>
          <p:cNvSpPr/>
          <p:nvPr/>
        </p:nvSpPr>
        <p:spPr>
          <a:xfrm>
            <a:off x="6784848" y="118872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600"/>
              <a:buFont typeface="Arial Black"/>
              <a:buNone/>
            </a:pPr>
            <a:r>
              <a:rPr b="1" lang="en-US" sz="2600">
                <a:solidFill>
                  <a:srgbClr val="C0392B"/>
                </a:solidFill>
                <a:latin typeface="Arial Black"/>
                <a:ea typeface="Arial Black"/>
                <a:cs typeface="Arial Black"/>
                <a:sym typeface="Arial Black"/>
              </a:rPr>
              <a:t>300+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0"/>
          <p:cNvSpPr/>
          <p:nvPr/>
        </p:nvSpPr>
        <p:spPr>
          <a:xfrm>
            <a:off x="6784848" y="1764792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Combined Goals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0"/>
          <p:cNvSpPr/>
          <p:nvPr/>
        </p:nvSpPr>
        <p:spPr>
          <a:xfrm>
            <a:off x="256032" y="2212848"/>
            <a:ext cx="8631936" cy="594360"/>
          </a:xfrm>
          <a:prstGeom prst="rect">
            <a:avLst/>
          </a:prstGeom>
          <a:solidFill>
            <a:srgbClr val="FFD700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0"/>
          <p:cNvSpPr/>
          <p:nvPr/>
        </p:nvSpPr>
        <p:spPr>
          <a:xfrm>
            <a:off x="320040" y="2240280"/>
            <a:ext cx="5029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🏆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0"/>
          <p:cNvSpPr/>
          <p:nvPr/>
        </p:nvSpPr>
        <p:spPr>
          <a:xfrm>
            <a:off x="896112" y="228600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A00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7A4A00"/>
                </a:solidFill>
                <a:latin typeface="Arial"/>
                <a:ea typeface="Arial"/>
                <a:cs typeface="Arial"/>
                <a:sym typeface="Arial"/>
              </a:rPr>
              <a:t>Top Scorer Spotlight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0"/>
          <p:cNvSpPr/>
          <p:nvPr/>
        </p:nvSpPr>
        <p:spPr>
          <a:xfrm>
            <a:off x="896112" y="2496312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3D"/>
              </a:buClr>
              <a:buSzPts val="1100"/>
              <a:buFont typeface="Arial Black"/>
              <a:buNone/>
            </a:pPr>
            <a:r>
              <a:rPr b="1" lang="en-US" sz="1100">
                <a:solidFill>
                  <a:srgbClr val="1F2D3D"/>
                </a:solidFill>
                <a:latin typeface="Arial Black"/>
                <a:ea typeface="Arial Black"/>
                <a:cs typeface="Arial Black"/>
                <a:sym typeface="Arial Black"/>
              </a:rPr>
              <a:t>[Player Name]  ·  [Team]  ·  [Club]  ·  [N] goals  —  dynamically from DB via which.max()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0"/>
          <p:cNvSpPr/>
          <p:nvPr/>
        </p:nvSpPr>
        <p:spPr>
          <a:xfrm>
            <a:off x="256032" y="2907792"/>
            <a:ext cx="2788920" cy="347472"/>
          </a:xfrm>
          <a:prstGeom prst="rect">
            <a:avLst/>
          </a:prstGeom>
          <a:solidFill>
            <a:srgbClr val="0D3B66"/>
          </a:solidFill>
          <a:ln cap="flat" cmpd="sng" w="12700">
            <a:solidFill>
              <a:srgbClr val="0D3B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0"/>
          <p:cNvSpPr/>
          <p:nvPr/>
        </p:nvSpPr>
        <p:spPr>
          <a:xfrm>
            <a:off x="256032" y="2907792"/>
            <a:ext cx="2788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Player Table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0"/>
          <p:cNvSpPr/>
          <p:nvPr/>
        </p:nvSpPr>
        <p:spPr>
          <a:xfrm>
            <a:off x="3163824" y="2907792"/>
            <a:ext cx="2788920" cy="347472"/>
          </a:xfrm>
          <a:prstGeom prst="rect">
            <a:avLst/>
          </a:prstGeom>
          <a:solidFill>
            <a:srgbClr val="1A5F9E"/>
          </a:solidFill>
          <a:ln cap="flat" cmpd="sng" w="12700">
            <a:solidFill>
              <a:srgbClr val="1A5F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0"/>
          <p:cNvSpPr/>
          <p:nvPr/>
        </p:nvSpPr>
        <p:spPr>
          <a:xfrm>
            <a:off x="3163824" y="2907792"/>
            <a:ext cx="2788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 Overview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0"/>
          <p:cNvSpPr/>
          <p:nvPr/>
        </p:nvSpPr>
        <p:spPr>
          <a:xfrm>
            <a:off x="6071616" y="2907792"/>
            <a:ext cx="2788920" cy="347472"/>
          </a:xfrm>
          <a:prstGeom prst="rect">
            <a:avLst/>
          </a:prstGeom>
          <a:solidFill>
            <a:srgbClr val="5B6570"/>
          </a:solidFill>
          <a:ln cap="flat" cmpd="sng" w="12700">
            <a:solidFill>
              <a:srgbClr val="5B65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0"/>
          <p:cNvSpPr/>
          <p:nvPr/>
        </p:nvSpPr>
        <p:spPr>
          <a:xfrm>
            <a:off x="6071616" y="2907792"/>
            <a:ext cx="2788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Position Breakdown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0"/>
          <p:cNvSpPr/>
          <p:nvPr/>
        </p:nvSpPr>
        <p:spPr>
          <a:xfrm>
            <a:off x="256032" y="3337560"/>
            <a:ext cx="2788920" cy="13898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0"/>
          <p:cNvSpPr/>
          <p:nvPr/>
        </p:nvSpPr>
        <p:spPr>
          <a:xfrm>
            <a:off x="347472" y="3401568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3D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DT datatable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0"/>
          <p:cNvSpPr/>
          <p:nvPr/>
        </p:nvSpPr>
        <p:spPr>
          <a:xfrm>
            <a:off x="347472" y="3712464"/>
            <a:ext cx="2606040" cy="9692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Filter by Team / Position / Search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datatable dom='tip'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PageLength 15, scrollX, autoWidth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0"/>
          <p:cNvSpPr/>
          <p:nvPr/>
        </p:nvSpPr>
        <p:spPr>
          <a:xfrm>
            <a:off x="3163824" y="3337560"/>
            <a:ext cx="2788920" cy="13898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0"/>
          <p:cNvSpPr/>
          <p:nvPr/>
        </p:nvSpPr>
        <p:spPr>
          <a:xfrm>
            <a:off x="3255264" y="3401568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3D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ggplot2 Charts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0"/>
          <p:cNvSpPr/>
          <p:nvPr/>
        </p:nvSpPr>
        <p:spPr>
          <a:xfrm>
            <a:off x="3255264" y="3712464"/>
            <a:ext cx="2606040" cy="9692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• Goals by Team (geom_bar, navy gradient)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• Squad Size (green gradient)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• Team roster detail table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0"/>
          <p:cNvSpPr/>
          <p:nvPr/>
        </p:nvSpPr>
        <p:spPr>
          <a:xfrm>
            <a:off x="6071616" y="3337560"/>
            <a:ext cx="2788920" cy="13898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0"/>
          <p:cNvSpPr/>
          <p:nvPr/>
        </p:nvSpPr>
        <p:spPr>
          <a:xfrm>
            <a:off x="6163056" y="3401568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D3D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Donut + Scorers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0"/>
          <p:cNvSpPr/>
          <p:nvPr/>
        </p:nvSpPr>
        <p:spPr>
          <a:xfrm>
            <a:off x="6163056" y="3712464"/>
            <a:ext cx="2606040" cy="9692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• coord_polar position donut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  FW / MF / DF / GK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0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rPr>
              <a:t>• Top 10 scorer bar (scale_fill_brewer)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0"/>
          <p:cNvSpPr/>
          <p:nvPr/>
        </p:nvSpPr>
        <p:spPr>
          <a:xfrm>
            <a:off x="256032" y="4754880"/>
            <a:ext cx="8631936" cy="256032"/>
          </a:xfrm>
          <a:prstGeom prst="rect">
            <a:avLst/>
          </a:prstGeom>
          <a:solidFill>
            <a:srgbClr val="0D3B66"/>
          </a:solidFill>
          <a:ln cap="flat" cmpd="sng" w="12700">
            <a:solidFill>
              <a:srgbClr val="0D3B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0"/>
          <p:cNvSpPr/>
          <p:nvPr/>
        </p:nvSpPr>
        <p:spPr>
          <a:xfrm>
            <a:off x="347472" y="4754880"/>
            <a:ext cx="84673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FFD700"/>
                </a:solidFill>
                <a:latin typeface="Arial"/>
                <a:ea typeface="Arial"/>
                <a:cs typeface="Arial"/>
                <a:sym typeface="Arial"/>
              </a:rPr>
              <a:t>SQL: SELECT p.*, t.team_name, c.club_name FROM players p JOIN clubs c ON p.club_id=c.club_id JOIN teams t ON p.team_id=t.team_id ORDER BY t.team_name, p.goals DESC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d9d33918fc_0_4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g3d9d33918fc_0_41"/>
          <p:cNvSpPr/>
          <p:nvPr/>
        </p:nvSpPr>
        <p:spPr>
          <a:xfrm>
            <a:off x="0" y="0"/>
            <a:ext cx="183000" cy="914400"/>
          </a:xfrm>
          <a:prstGeom prst="rect">
            <a:avLst/>
          </a:prstGeom>
          <a:solidFill>
            <a:srgbClr val="CADC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g3d9d33918fc_0_41"/>
          <p:cNvSpPr txBox="1"/>
          <p:nvPr/>
        </p:nvSpPr>
        <p:spPr>
          <a:xfrm>
            <a:off x="342900" y="0"/>
            <a:ext cx="8496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FAN EXPERIENCE TAB · EVENTS &amp; LOCAL ATTRACTIONS</a:t>
            </a:r>
            <a:endParaRPr b="1" sz="1400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576" name="Google Shape;576;g3d9d33918fc_0_41"/>
          <p:cNvGrpSpPr/>
          <p:nvPr/>
        </p:nvGrpSpPr>
        <p:grpSpPr>
          <a:xfrm>
            <a:off x="247650" y="1000125"/>
            <a:ext cx="2800500" cy="1143000"/>
            <a:chOff x="247650" y="1000125"/>
            <a:chExt cx="2800500" cy="1143000"/>
          </a:xfrm>
        </p:grpSpPr>
        <p:sp>
          <p:nvSpPr>
            <p:cNvPr id="577" name="Google Shape;577;g3d9d33918fc_0_41"/>
            <p:cNvSpPr/>
            <p:nvPr/>
          </p:nvSpPr>
          <p:spPr>
            <a:xfrm>
              <a:off x="247650" y="1000125"/>
              <a:ext cx="2800500" cy="1143000"/>
            </a:xfrm>
            <a:prstGeom prst="rect">
              <a:avLst/>
            </a:prstGeom>
            <a:solidFill>
              <a:srgbClr val="FFFFFF"/>
            </a:solidFill>
            <a:ln cap="flat" cmpd="sng" w="1237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g3d9d33918fc_0_41"/>
            <p:cNvSpPr/>
            <p:nvPr/>
          </p:nvSpPr>
          <p:spPr>
            <a:xfrm>
              <a:off x="247650" y="1000125"/>
              <a:ext cx="2800500" cy="190500"/>
            </a:xfrm>
            <a:prstGeom prst="rect">
              <a:avLst/>
            </a:prstGeom>
            <a:solidFill>
              <a:srgbClr val="0D3B6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g3d9d33918fc_0_41"/>
            <p:cNvSpPr txBox="1"/>
            <p:nvPr/>
          </p:nvSpPr>
          <p:spPr>
            <a:xfrm>
              <a:off x="323850" y="1000125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7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FREE ENTRY</a:t>
              </a:r>
              <a:endParaRPr b="1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g3d9d33918fc_0_41"/>
            <p:cNvSpPr txBox="1"/>
            <p:nvPr/>
          </p:nvSpPr>
          <p:spPr>
            <a:xfrm>
              <a:off x="342900" y="1238250"/>
              <a:ext cx="26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F2D3D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FIFA World Cup Fan Zone</a:t>
              </a:r>
              <a:endParaRPr b="1" sz="1100">
                <a:solidFill>
                  <a:srgbClr val="1F2D3D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581" name="Google Shape;581;g3d9d33918fc_0_41"/>
            <p:cNvSpPr txBox="1"/>
            <p:nvPr/>
          </p:nvSpPr>
          <p:spPr>
            <a:xfrm>
              <a:off x="342900" y="1619250"/>
              <a:ext cx="2610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833">
                  <a:solidFill>
                    <a:srgbClr val="5B6570"/>
                  </a:solidFill>
                  <a:latin typeface="Arial"/>
                  <a:ea typeface="Arial"/>
                  <a:cs typeface="Arial"/>
                  <a:sym typeface="Arial"/>
                </a:rPr>
                <a:t>City Hall Plaza. Live screening, food vendors, and FIFA activations. Opens Jun 13.</a:t>
              </a:r>
              <a:endParaRPr b="0" sz="833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2" name="Google Shape;582;g3d9d33918fc_0_41"/>
          <p:cNvGrpSpPr/>
          <p:nvPr/>
        </p:nvGrpSpPr>
        <p:grpSpPr>
          <a:xfrm>
            <a:off x="3171825" y="1000125"/>
            <a:ext cx="2800500" cy="1143000"/>
            <a:chOff x="3171825" y="1000125"/>
            <a:chExt cx="2800500" cy="1143000"/>
          </a:xfrm>
        </p:grpSpPr>
        <p:sp>
          <p:nvSpPr>
            <p:cNvPr id="583" name="Google Shape;583;g3d9d33918fc_0_41"/>
            <p:cNvSpPr/>
            <p:nvPr/>
          </p:nvSpPr>
          <p:spPr>
            <a:xfrm>
              <a:off x="3171825" y="1000125"/>
              <a:ext cx="2800500" cy="1143000"/>
            </a:xfrm>
            <a:prstGeom prst="rect">
              <a:avLst/>
            </a:prstGeom>
            <a:solidFill>
              <a:srgbClr val="FFFFFF"/>
            </a:solidFill>
            <a:ln cap="flat" cmpd="sng" w="1237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g3d9d33918fc_0_41"/>
            <p:cNvSpPr/>
            <p:nvPr/>
          </p:nvSpPr>
          <p:spPr>
            <a:xfrm>
              <a:off x="3171825" y="1000125"/>
              <a:ext cx="2800500" cy="190500"/>
            </a:xfrm>
            <a:prstGeom prst="rect">
              <a:avLst/>
            </a:prstGeom>
            <a:solidFill>
              <a:srgbClr val="C039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g3d9d33918fc_0_41"/>
            <p:cNvSpPr txBox="1"/>
            <p:nvPr/>
          </p:nvSpPr>
          <p:spPr>
            <a:xfrm>
              <a:off x="3248025" y="1000125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7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TICKETED</a:t>
              </a:r>
              <a:endParaRPr b="1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g3d9d33918fc_0_41"/>
            <p:cNvSpPr txBox="1"/>
            <p:nvPr/>
          </p:nvSpPr>
          <p:spPr>
            <a:xfrm>
              <a:off x="3267075" y="1238250"/>
              <a:ext cx="26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F2D3D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France vs Morocco Watch Party</a:t>
              </a:r>
              <a:endParaRPr b="1" sz="1100">
                <a:solidFill>
                  <a:srgbClr val="1F2D3D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587" name="Google Shape;587;g3d9d33918fc_0_41"/>
            <p:cNvSpPr txBox="1"/>
            <p:nvPr/>
          </p:nvSpPr>
          <p:spPr>
            <a:xfrm>
              <a:off x="3267075" y="1619250"/>
              <a:ext cx="2610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833">
                  <a:solidFill>
                    <a:srgbClr val="5B6570"/>
                  </a:solidFill>
                  <a:latin typeface="Arial"/>
                  <a:ea typeface="Arial"/>
                  <a:cs typeface="Arial"/>
                  <a:sym typeface="Arial"/>
                </a:rPr>
                <a:t>TD Garden big screen viewing. Doors open at 4:30 PM ET on June 16. Tickets from $25.</a:t>
              </a:r>
              <a:endParaRPr b="0" sz="833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8" name="Google Shape;588;g3d9d33918fc_0_41"/>
          <p:cNvGrpSpPr/>
          <p:nvPr/>
        </p:nvGrpSpPr>
        <p:grpSpPr>
          <a:xfrm>
            <a:off x="6096000" y="1000125"/>
            <a:ext cx="2800500" cy="1143000"/>
            <a:chOff x="6096000" y="1000125"/>
            <a:chExt cx="2800500" cy="1143000"/>
          </a:xfrm>
        </p:grpSpPr>
        <p:sp>
          <p:nvSpPr>
            <p:cNvPr id="589" name="Google Shape;589;g3d9d33918fc_0_41"/>
            <p:cNvSpPr/>
            <p:nvPr/>
          </p:nvSpPr>
          <p:spPr>
            <a:xfrm>
              <a:off x="6096000" y="1000125"/>
              <a:ext cx="2800500" cy="1143000"/>
            </a:xfrm>
            <a:prstGeom prst="rect">
              <a:avLst/>
            </a:prstGeom>
            <a:solidFill>
              <a:srgbClr val="FFFFFF"/>
            </a:solidFill>
            <a:ln cap="flat" cmpd="sng" w="1237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g3d9d33918fc_0_41"/>
            <p:cNvSpPr/>
            <p:nvPr/>
          </p:nvSpPr>
          <p:spPr>
            <a:xfrm>
              <a:off x="6096000" y="1000125"/>
              <a:ext cx="2800500" cy="190500"/>
            </a:xfrm>
            <a:prstGeom prst="rect">
              <a:avLst/>
            </a:prstGeom>
            <a:solidFill>
              <a:srgbClr val="2D6A4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g3d9d33918fc_0_41"/>
            <p:cNvSpPr txBox="1"/>
            <p:nvPr/>
          </p:nvSpPr>
          <p:spPr>
            <a:xfrm>
              <a:off x="6172200" y="1000125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7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FREE</a:t>
              </a:r>
              <a:endParaRPr b="1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g3d9d33918fc_0_41"/>
            <p:cNvSpPr txBox="1"/>
            <p:nvPr/>
          </p:nvSpPr>
          <p:spPr>
            <a:xfrm>
              <a:off x="6191250" y="1238250"/>
              <a:ext cx="26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F2D3D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Scotland vs Iraq Fan March</a:t>
              </a:r>
              <a:endParaRPr b="1" sz="1100">
                <a:solidFill>
                  <a:srgbClr val="1F2D3D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593" name="Google Shape;593;g3d9d33918fc_0_41"/>
            <p:cNvSpPr txBox="1"/>
            <p:nvPr/>
          </p:nvSpPr>
          <p:spPr>
            <a:xfrm>
              <a:off x="6191250" y="1619250"/>
              <a:ext cx="2610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833">
                  <a:solidFill>
                    <a:srgbClr val="5B6570"/>
                  </a:solidFill>
                  <a:latin typeface="Arial"/>
                  <a:ea typeface="Arial"/>
                  <a:cs typeface="Arial"/>
                  <a:sym typeface="Arial"/>
                </a:rPr>
                <a:t>Jun 20. March from Kenmore Sq to Fenway with bagpipes and drums at 5:00 PM.</a:t>
              </a:r>
              <a:endParaRPr b="0" sz="833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4" name="Google Shape;594;g3d9d33918fc_0_41"/>
          <p:cNvGrpSpPr/>
          <p:nvPr/>
        </p:nvGrpSpPr>
        <p:grpSpPr>
          <a:xfrm>
            <a:off x="1980224" y="2257350"/>
            <a:ext cx="5221655" cy="2381400"/>
            <a:chOff x="389271" y="2266875"/>
            <a:chExt cx="4238700" cy="2381400"/>
          </a:xfrm>
        </p:grpSpPr>
        <p:sp>
          <p:nvSpPr>
            <p:cNvPr id="595" name="Google Shape;595;g3d9d33918fc_0_41"/>
            <p:cNvSpPr/>
            <p:nvPr/>
          </p:nvSpPr>
          <p:spPr>
            <a:xfrm>
              <a:off x="389271" y="2266875"/>
              <a:ext cx="4238700" cy="2381400"/>
            </a:xfrm>
            <a:prstGeom prst="rect">
              <a:avLst/>
            </a:prstGeom>
            <a:solidFill>
              <a:srgbClr val="FFFFFF"/>
            </a:solidFill>
            <a:ln cap="flat" cmpd="sng" w="1237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g3d9d33918fc_0_41"/>
            <p:cNvSpPr/>
            <p:nvPr/>
          </p:nvSpPr>
          <p:spPr>
            <a:xfrm>
              <a:off x="389271" y="2266875"/>
              <a:ext cx="4238700" cy="285900"/>
            </a:xfrm>
            <a:prstGeom prst="rect">
              <a:avLst/>
            </a:prstGeom>
            <a:solidFill>
              <a:srgbClr val="0D3B6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g3d9d33918fc_0_41"/>
            <p:cNvSpPr txBox="1"/>
            <p:nvPr/>
          </p:nvSpPr>
          <p:spPr>
            <a:xfrm>
              <a:off x="484521" y="2266875"/>
              <a:ext cx="40482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33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🏙️ TOP ATTRACTIONS</a:t>
              </a:r>
              <a:endParaRPr b="1" sz="83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g3d9d33918fc_0_41"/>
            <p:cNvSpPr txBox="1"/>
            <p:nvPr/>
          </p:nvSpPr>
          <p:spPr>
            <a:xfrm>
              <a:off x="484521" y="2647875"/>
              <a:ext cx="1905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33">
                  <a:solidFill>
                    <a:srgbClr val="1F2D3D"/>
                  </a:solidFill>
                  <a:latin typeface="Arial"/>
                  <a:ea typeface="Arial"/>
                  <a:cs typeface="Arial"/>
                  <a:sym typeface="Arial"/>
                </a:rPr>
                <a:t>🦞 Quincy Market</a:t>
              </a:r>
              <a:endParaRPr b="1" sz="833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833">
                  <a:solidFill>
                    <a:srgbClr val="5B6570"/>
                  </a:solidFill>
                  <a:latin typeface="Arial"/>
                  <a:ea typeface="Arial"/>
                  <a:cs typeface="Arial"/>
                  <a:sym typeface="Arial"/>
                </a:rPr>
                <a:t>Downtown foodie hub. 30 min from stadium.</a:t>
              </a:r>
              <a:endParaRPr b="0" sz="833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833">
                  <a:solidFill>
                    <a:srgbClr val="1F2D3D"/>
                  </a:solidFill>
                  <a:latin typeface="Arial"/>
                  <a:ea typeface="Arial"/>
                  <a:cs typeface="Arial"/>
                  <a:sym typeface="Arial"/>
                </a:rPr>
                <a:t>⚾ Fenway Park Tour</a:t>
              </a:r>
              <a:endParaRPr b="1" sz="833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833">
                  <a:solidFill>
                    <a:srgbClr val="5B6570"/>
                  </a:solidFill>
                  <a:latin typeface="Arial"/>
                  <a:ea typeface="Arial"/>
                  <a:cs typeface="Arial"/>
                  <a:sym typeface="Arial"/>
                </a:rPr>
                <a:t>Historic ballpark. 35 min from stadium.</a:t>
              </a:r>
              <a:endParaRPr b="0" sz="833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g3d9d33918fc_0_41"/>
            <p:cNvSpPr txBox="1"/>
            <p:nvPr/>
          </p:nvSpPr>
          <p:spPr>
            <a:xfrm>
              <a:off x="2522871" y="2647875"/>
              <a:ext cx="1905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33">
                  <a:solidFill>
                    <a:srgbClr val="1F2D3D"/>
                  </a:solidFill>
                  <a:latin typeface="Arial"/>
                  <a:ea typeface="Arial"/>
                  <a:cs typeface="Arial"/>
                  <a:sym typeface="Arial"/>
                </a:rPr>
                <a:t>🎨 Museum of Fine Arts</a:t>
              </a:r>
              <a:endParaRPr b="1" sz="833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833">
                  <a:solidFill>
                    <a:srgbClr val="5B6570"/>
                  </a:solidFill>
                  <a:latin typeface="Arial"/>
                  <a:ea typeface="Arial"/>
                  <a:cs typeface="Arial"/>
                  <a:sym typeface="Arial"/>
                </a:rPr>
                <a:t>Global art collection. 40 min from stadium.</a:t>
              </a:r>
              <a:endParaRPr b="0" sz="833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833">
                  <a:solidFill>
                    <a:srgbClr val="1F2D3D"/>
                  </a:solidFill>
                  <a:latin typeface="Arial"/>
                  <a:ea typeface="Arial"/>
                  <a:cs typeface="Arial"/>
                  <a:sym typeface="Arial"/>
                </a:rPr>
                <a:t>🏛️ Freedom Trail</a:t>
              </a:r>
              <a:endParaRPr b="1" sz="833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833">
                  <a:solidFill>
                    <a:srgbClr val="5B6570"/>
                  </a:solidFill>
                  <a:latin typeface="Arial"/>
                  <a:ea typeface="Arial"/>
                  <a:cs typeface="Arial"/>
                  <a:sym typeface="Arial"/>
                </a:rPr>
                <a:t>2.5-mile historic walk. 30 min from stadium.</a:t>
              </a:r>
              <a:endParaRPr b="0" sz="833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g3d9d33918fc_0_41"/>
            <p:cNvSpPr/>
            <p:nvPr/>
          </p:nvSpPr>
          <p:spPr>
            <a:xfrm>
              <a:off x="484521" y="3695625"/>
              <a:ext cx="4048200" cy="857400"/>
            </a:xfrm>
            <a:prstGeom prst="roundRect">
              <a:avLst>
                <a:gd fmla="val 8888" name="adj"/>
              </a:avLst>
            </a:prstGeom>
            <a:solidFill>
              <a:srgbClr val="EEF3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g3d9d33918fc_0_41"/>
            <p:cNvSpPr txBox="1"/>
            <p:nvPr/>
          </p:nvSpPr>
          <p:spPr>
            <a:xfrm>
              <a:off x="579771" y="3743250"/>
              <a:ext cx="38577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833">
                  <a:solidFill>
                    <a:srgbClr val="5B6570"/>
                  </a:solidFill>
                  <a:latin typeface="Arial"/>
                  <a:ea typeface="Arial"/>
                  <a:cs typeface="Arial"/>
                  <a:sym typeface="Arial"/>
                </a:rPr>
                <a:t>📍 Leaflet Map Logic: Markers at City Hall Plaza (Fan Zone), TD Garden (Watch Party), Kenmore Sq (March), and all attraction lat/lng coordinates.</a:t>
              </a:r>
              <a:endParaRPr b="0" i="1" sz="833">
                <a:solidFill>
                  <a:srgbClr val="5B657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2" name="Google Shape;602;g3d9d33918fc_0_41"/>
          <p:cNvSpPr/>
          <p:nvPr/>
        </p:nvSpPr>
        <p:spPr>
          <a:xfrm>
            <a:off x="247650" y="4752975"/>
            <a:ext cx="8629800" cy="24780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g3d9d33918fc_0_41"/>
          <p:cNvSpPr txBox="1"/>
          <p:nvPr/>
        </p:nvSpPr>
        <p:spPr>
          <a:xfrm>
            <a:off x="342900" y="4752975"/>
            <a:ext cx="84582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FFD700"/>
                </a:solidFill>
                <a:latin typeface="Arial"/>
                <a:ea typeface="Arial"/>
                <a:cs typeface="Arial"/>
                <a:sym typeface="Arial"/>
              </a:rPr>
              <a:t>SQL: SELECT * FROM fan_events UNION SELECT * FROM fan_attractions WHERE dist_to_stadium &lt; 1.0 OR type='Iconic' ORDER BY date ASC</a:t>
            </a:r>
            <a:endParaRPr sz="750">
              <a:solidFill>
                <a:srgbClr val="FFD7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3B66"/>
        </a:solidFill>
      </p:bgPr>
    </p:bg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12"/>
          <p:cNvSpPr/>
          <p:nvPr/>
        </p:nvSpPr>
        <p:spPr>
          <a:xfrm>
            <a:off x="5349240" y="0"/>
            <a:ext cx="3794760" cy="51435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2"/>
          <p:cNvSpPr/>
          <p:nvPr/>
        </p:nvSpPr>
        <p:spPr>
          <a:xfrm>
            <a:off x="5239512" y="0"/>
            <a:ext cx="128016" cy="5143500"/>
          </a:xfrm>
          <a:prstGeom prst="rect">
            <a:avLst/>
          </a:prstGeom>
          <a:solidFill>
            <a:srgbClr val="FFD700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11" name="Google Shape;6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06440" y="594360"/>
            <a:ext cx="2651760" cy="2651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12" name="Google Shape;61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78040" y="3383280"/>
            <a:ext cx="1280160" cy="1280160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12"/>
          <p:cNvSpPr/>
          <p:nvPr/>
        </p:nvSpPr>
        <p:spPr>
          <a:xfrm>
            <a:off x="395755" y="1461895"/>
            <a:ext cx="4663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Arial Black"/>
              <a:buNone/>
            </a:pPr>
            <a:r>
              <a:rPr b="1" lang="en-US" sz="43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Thank You for Listening</a:t>
            </a:r>
            <a:endParaRPr sz="4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2"/>
          <p:cNvSpPr/>
          <p:nvPr/>
        </p:nvSpPr>
        <p:spPr>
          <a:xfrm>
            <a:off x="1568278" y="3226200"/>
            <a:ext cx="20121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FFD700"/>
                </a:solidFill>
              </a:rPr>
              <a:t>Any Questions?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2"/>
          <p:cNvSpPr/>
          <p:nvPr/>
        </p:nvSpPr>
        <p:spPr>
          <a:xfrm>
            <a:off x="395755" y="2970655"/>
            <a:ext cx="4434900" cy="456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2026-04-27T19:37:18Z</dcterms:created>
  <dc:creator>PptxGenJS</dc:creator>
</cp:coreProperties>
</file>